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Raleway" charset="1" panose="00000000000000000000"/>
      <p:regular r:id="rId28"/>
    </p:embeddedFont>
    <p:embeddedFont>
      <p:font typeface="Roboto" charset="1" panose="02000000000000000000"/>
      <p:regular r:id="rId29"/>
    </p:embeddedFont>
    <p:embeddedFont>
      <p:font typeface="Raleway Bold" charset="1" panose="00000000000000000000"/>
      <p:regular r:id="rId35"/>
    </p:embeddedFont>
    <p:embeddedFont>
      <p:font typeface="Roboto Bold" charset="1" panose="02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notesSlides/notesSlide3.xml" Type="http://schemas.openxmlformats.org/officeDocument/2006/relationships/notesSlide"/><Relationship Id="rId32" Target="notesSlides/notesSlide4.xml" Type="http://schemas.openxmlformats.org/officeDocument/2006/relationships/notesSlide"/><Relationship Id="rId33" Target="notesSlides/notesSlide5.xml" Type="http://schemas.openxmlformats.org/officeDocument/2006/relationships/notesSlide"/><Relationship Id="rId34" Target="notesSlides/notesSlide6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idea is that a group of candidate solutions, called particles, move through a solution space to find the optimal result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https://gamma.app/?utm_source=made-with-gamma" TargetMode="External" Type="http://schemas.openxmlformats.org/officeDocument/2006/relationships/hyperlink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1500336"/>
            <a:ext cx="9445526" cy="1993360"/>
            <a:chOff x="0" y="0"/>
            <a:chExt cx="12594035" cy="265781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035" cy="2657814"/>
            </a:xfrm>
            <a:custGeom>
              <a:avLst/>
              <a:gdLst/>
              <a:ahLst/>
              <a:cxnLst/>
              <a:rect r="r" b="b" t="t" l="l"/>
              <a:pathLst>
                <a:path h="265781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57814"/>
                  </a:lnTo>
                  <a:lnTo>
                    <a:pt x="0" y="2657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594035" cy="26863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Particle Swarm Optimization (PSO)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9572" y="4102032"/>
            <a:ext cx="3714918" cy="2771330"/>
            <a:chOff x="0" y="0"/>
            <a:chExt cx="4953225" cy="369510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953225" cy="604838"/>
              <a:chOff x="0" y="0"/>
              <a:chExt cx="4953225" cy="604838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53225" cy="604838"/>
              </a:xfrm>
              <a:custGeom>
                <a:avLst/>
                <a:gdLst/>
                <a:ahLst/>
                <a:cxnLst/>
                <a:rect r="r" b="b" t="t" l="l"/>
                <a:pathLst>
                  <a:path h="604838" w="4953225">
                    <a:moveTo>
                      <a:pt x="0" y="0"/>
                    </a:moveTo>
                    <a:lnTo>
                      <a:pt x="4953225" y="0"/>
                    </a:lnTo>
                    <a:lnTo>
                      <a:pt x="4953225" y="604838"/>
                    </a:lnTo>
                    <a:lnTo>
                      <a:pt x="0" y="6048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0"/>
                <a:ext cx="4953225" cy="7000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3562"/>
                  </a:lnSpc>
                </a:pPr>
                <a:r>
                  <a:rPr lang="en-US" sz="2187">
                    <a:solidFill>
                      <a:srgbClr val="3C3939"/>
                    </a:solidFill>
                    <a:latin typeface="Roboto"/>
                    <a:ea typeface="Roboto"/>
                    <a:cs typeface="Roboto"/>
                    <a:sym typeface="Roboto"/>
                  </a:rPr>
                  <a:t>Presented by: 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030090"/>
              <a:ext cx="4953225" cy="604838"/>
              <a:chOff x="0" y="0"/>
              <a:chExt cx="4953225" cy="604838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953225" cy="604838"/>
              </a:xfrm>
              <a:custGeom>
                <a:avLst/>
                <a:gdLst/>
                <a:ahLst/>
                <a:cxnLst/>
                <a:rect r="r" b="b" t="t" l="l"/>
                <a:pathLst>
                  <a:path h="604838" w="4953225">
                    <a:moveTo>
                      <a:pt x="0" y="0"/>
                    </a:moveTo>
                    <a:lnTo>
                      <a:pt x="4953225" y="0"/>
                    </a:lnTo>
                    <a:lnTo>
                      <a:pt x="4953225" y="604838"/>
                    </a:lnTo>
                    <a:lnTo>
                      <a:pt x="0" y="6048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0"/>
                <a:ext cx="4953225" cy="7000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3562"/>
                  </a:lnSpc>
                </a:pPr>
                <a:r>
                  <a:rPr lang="en-US" sz="2187">
                    <a:solidFill>
                      <a:srgbClr val="3C3939"/>
                    </a:solidFill>
                    <a:latin typeface="Roboto"/>
                    <a:ea typeface="Roboto"/>
                    <a:cs typeface="Roboto"/>
                    <a:sym typeface="Roboto"/>
                  </a:rPr>
                  <a:t>Bibek Gautam(078BCT030)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2060178"/>
              <a:ext cx="4953225" cy="604838"/>
              <a:chOff x="0" y="0"/>
              <a:chExt cx="4953225" cy="6048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953225" cy="604838"/>
              </a:xfrm>
              <a:custGeom>
                <a:avLst/>
                <a:gdLst/>
                <a:ahLst/>
                <a:cxnLst/>
                <a:rect r="r" b="b" t="t" l="l"/>
                <a:pathLst>
                  <a:path h="604838" w="4953225">
                    <a:moveTo>
                      <a:pt x="0" y="0"/>
                    </a:moveTo>
                    <a:lnTo>
                      <a:pt x="4953225" y="0"/>
                    </a:lnTo>
                    <a:lnTo>
                      <a:pt x="4953225" y="604838"/>
                    </a:lnTo>
                    <a:lnTo>
                      <a:pt x="0" y="6048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95250"/>
                <a:ext cx="4953225" cy="7000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3562"/>
                  </a:lnSpc>
                </a:pPr>
                <a:r>
                  <a:rPr lang="en-US" sz="2187">
                    <a:solidFill>
                      <a:srgbClr val="3C3939"/>
                    </a:solidFill>
                    <a:latin typeface="Roboto"/>
                    <a:ea typeface="Roboto"/>
                    <a:cs typeface="Roboto"/>
                    <a:sym typeface="Roboto"/>
                  </a:rPr>
                  <a:t>Bikash Niraula(078BCT031)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3090268"/>
              <a:ext cx="4953225" cy="604838"/>
              <a:chOff x="0" y="0"/>
              <a:chExt cx="4953225" cy="604838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953225" cy="604838"/>
              </a:xfrm>
              <a:custGeom>
                <a:avLst/>
                <a:gdLst/>
                <a:ahLst/>
                <a:cxnLst/>
                <a:rect r="r" b="b" t="t" l="l"/>
                <a:pathLst>
                  <a:path h="604838" w="4953225">
                    <a:moveTo>
                      <a:pt x="0" y="0"/>
                    </a:moveTo>
                    <a:lnTo>
                      <a:pt x="4953225" y="0"/>
                    </a:lnTo>
                    <a:lnTo>
                      <a:pt x="4953225" y="604838"/>
                    </a:lnTo>
                    <a:lnTo>
                      <a:pt x="0" y="604838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0"/>
                <a:ext cx="4953225" cy="700088"/>
              </a:xfrm>
              <a:prstGeom prst="rect">
                <a:avLst/>
              </a:prstGeom>
            </p:spPr>
            <p:txBody>
              <a:bodyPr anchor="t" rtlCol="false" tIns="0" lIns="0" bIns="0" rIns="0"/>
              <a:lstStyle/>
              <a:p>
                <a:pPr algn="l">
                  <a:lnSpc>
                    <a:spcPts val="3562"/>
                  </a:lnSpc>
                </a:pPr>
                <a:r>
                  <a:rPr lang="en-US" sz="2187">
                    <a:solidFill>
                      <a:srgbClr val="3C3939"/>
                    </a:solidFill>
                    <a:latin typeface="Roboto"/>
                    <a:ea typeface="Roboto"/>
                    <a:cs typeface="Roboto"/>
                    <a:sym typeface="Roboto"/>
                  </a:rPr>
                  <a:t>Janak Sapkota(078BCT043)</a:t>
                </a:r>
              </a:p>
            </p:txBody>
          </p:sp>
        </p:grpSp>
      </p:grpSp>
      <p:grpSp>
        <p:nvGrpSpPr>
          <p:cNvPr name="Group 24" id="24"/>
          <p:cNvGrpSpPr/>
          <p:nvPr/>
        </p:nvGrpSpPr>
        <p:grpSpPr>
          <a:xfrm rot="0">
            <a:off x="5180663" y="8508134"/>
            <a:ext cx="1541844" cy="453629"/>
            <a:chOff x="0" y="0"/>
            <a:chExt cx="2055792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55792" cy="604838"/>
            </a:xfrm>
            <a:custGeom>
              <a:avLst/>
              <a:gdLst/>
              <a:ahLst/>
              <a:cxnLst/>
              <a:rect r="r" b="b" t="t" l="l"/>
              <a:pathLst>
                <a:path h="604838" w="2055792">
                  <a:moveTo>
                    <a:pt x="0" y="0"/>
                  </a:moveTo>
                  <a:lnTo>
                    <a:pt x="2055792" y="0"/>
                  </a:lnTo>
                  <a:lnTo>
                    <a:pt x="2055792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2055792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just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March 2025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1221135"/>
            <a:ext cx="9445526" cy="1771947"/>
            <a:chOff x="0" y="0"/>
            <a:chExt cx="12594035" cy="2362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Introduction to Particle Swarm Optimization(PSO)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2238" y="4555182"/>
            <a:ext cx="9445526" cy="907256"/>
            <a:chOff x="0" y="0"/>
            <a:chExt cx="12594035" cy="120967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594035" cy="1209675"/>
            </a:xfrm>
            <a:custGeom>
              <a:avLst/>
              <a:gdLst/>
              <a:ahLst/>
              <a:cxnLst/>
              <a:rect r="r" b="b" t="t" l="l"/>
              <a:pathLst>
                <a:path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0"/>
              <a:ext cx="12594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PSO is a </a:t>
              </a:r>
              <a:r>
                <a:rPr lang="en-US" sz="2187" u="sng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population-based</a:t>
              </a: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optimization algorithm inspired by the social behavior of birds and fish.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5782448"/>
            <a:ext cx="9445526" cy="919105"/>
            <a:chOff x="0" y="0"/>
            <a:chExt cx="12594035" cy="12254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594035" cy="1225474"/>
            </a:xfrm>
            <a:custGeom>
              <a:avLst/>
              <a:gdLst/>
              <a:ahLst/>
              <a:cxnLst/>
              <a:rect r="r" b="b" t="t" l="l"/>
              <a:pathLst>
                <a:path h="122547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25474"/>
                  </a:lnTo>
                  <a:lnTo>
                    <a:pt x="0" y="122547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12594035" cy="132072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The algorithm iteratively improves solutions by updating particle positions based on their own experiences and the best-known global solution.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92238" y="7021562"/>
            <a:ext cx="9445526" cy="907256"/>
            <a:chOff x="0" y="0"/>
            <a:chExt cx="12594035" cy="120967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594035" cy="1209675"/>
            </a:xfrm>
            <a:custGeom>
              <a:avLst/>
              <a:gdLst/>
              <a:ahLst/>
              <a:cxnLst/>
              <a:rect r="r" b="b" t="t" l="l"/>
              <a:pathLst>
                <a:path h="120967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2594035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It balances </a:t>
              </a:r>
              <a:r>
                <a:rPr lang="en-US" sz="2187" u="sng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exploration</a:t>
              </a: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(searching for new solutions) and </a:t>
              </a:r>
              <a:r>
                <a:rPr lang="en-US" sz="2187" u="sng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exploitation </a:t>
              </a: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(refining the best-known solutions).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92238" y="1936254"/>
            <a:ext cx="7088237" cy="885974"/>
            <a:chOff x="0" y="0"/>
            <a:chExt cx="9450983" cy="11812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50984" cy="1181298"/>
            </a:xfrm>
            <a:custGeom>
              <a:avLst/>
              <a:gdLst/>
              <a:ahLst/>
              <a:cxnLst/>
              <a:rect r="r" b="b" t="t" l="l"/>
              <a:pathLst>
                <a:path h="1181298" w="9450984">
                  <a:moveTo>
                    <a:pt x="0" y="0"/>
                  </a:moveTo>
                  <a:lnTo>
                    <a:pt x="9450984" y="0"/>
                  </a:lnTo>
                  <a:lnTo>
                    <a:pt x="9450984" y="1181298"/>
                  </a:lnTo>
                  <a:lnTo>
                    <a:pt x="0" y="1181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450983" cy="12098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Project Objectives</a:t>
              </a:r>
            </a:p>
          </p:txBody>
        </p:sp>
      </p:grpSp>
      <p:sp>
        <p:nvSpPr>
          <p:cNvPr name="Freeform 11" id="11" descr="preencoded.png"/>
          <p:cNvSpPr/>
          <p:nvPr/>
        </p:nvSpPr>
        <p:spPr>
          <a:xfrm flipH="false" flipV="false" rot="0">
            <a:off x="992238" y="3247430"/>
            <a:ext cx="1417588" cy="1701105"/>
          </a:xfrm>
          <a:custGeom>
            <a:avLst/>
            <a:gdLst/>
            <a:ahLst/>
            <a:cxnLst/>
            <a:rect r="r" b="b" t="t" l="l"/>
            <a:pathLst>
              <a:path h="1701105" w="1417588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55" r="0" b="-5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2835027" y="3530948"/>
            <a:ext cx="7602736" cy="885825"/>
            <a:chOff x="0" y="0"/>
            <a:chExt cx="10136982" cy="1181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36982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10136982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Implement PSO and visualize it using the Rosenbrock function</a:t>
              </a:r>
            </a:p>
          </p:txBody>
        </p:sp>
      </p:grpSp>
      <p:sp>
        <p:nvSpPr>
          <p:cNvPr name="Freeform 15" id="15" descr="preencoded.png"/>
          <p:cNvSpPr/>
          <p:nvPr/>
        </p:nvSpPr>
        <p:spPr>
          <a:xfrm flipH="false" flipV="false" rot="0">
            <a:off x="992238" y="4948535"/>
            <a:ext cx="1417588" cy="1701105"/>
          </a:xfrm>
          <a:custGeom>
            <a:avLst/>
            <a:gdLst/>
            <a:ahLst/>
            <a:cxnLst/>
            <a:rect r="r" b="b" t="t" l="l"/>
            <a:pathLst>
              <a:path h="1701105" w="1417588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55" r="0" b="-55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2835027" y="5232052"/>
            <a:ext cx="7314902" cy="442912"/>
            <a:chOff x="0" y="0"/>
            <a:chExt cx="9753203" cy="590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753203" cy="590550"/>
            </a:xfrm>
            <a:custGeom>
              <a:avLst/>
              <a:gdLst/>
              <a:ahLst/>
              <a:cxnLst/>
              <a:rect r="r" b="b" t="t" l="l"/>
              <a:pathLst>
                <a:path h="590550" w="9753203">
                  <a:moveTo>
                    <a:pt x="0" y="0"/>
                  </a:moveTo>
                  <a:lnTo>
                    <a:pt x="9753203" y="0"/>
                  </a:lnTo>
                  <a:lnTo>
                    <a:pt x="9753203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753203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Apply PSO to breast cancer feature selection</a:t>
              </a:r>
            </a:p>
          </p:txBody>
        </p:sp>
      </p:grpSp>
      <p:sp>
        <p:nvSpPr>
          <p:cNvPr name="Freeform 19" id="19" descr="preencoded.png"/>
          <p:cNvSpPr/>
          <p:nvPr/>
        </p:nvSpPr>
        <p:spPr>
          <a:xfrm flipH="false" flipV="false" rot="0">
            <a:off x="992238" y="6649641"/>
            <a:ext cx="1417588" cy="1701105"/>
          </a:xfrm>
          <a:custGeom>
            <a:avLst/>
            <a:gdLst/>
            <a:ahLst/>
            <a:cxnLst/>
            <a:rect r="r" b="b" t="t" l="l"/>
            <a:pathLst>
              <a:path h="1701105" w="1417588">
                <a:moveTo>
                  <a:pt x="0" y="0"/>
                </a:moveTo>
                <a:lnTo>
                  <a:pt x="1417587" y="0"/>
                </a:lnTo>
                <a:lnTo>
                  <a:pt x="1417587" y="1701105"/>
                </a:lnTo>
                <a:lnTo>
                  <a:pt x="0" y="17011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55" r="0" b="-55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2835027" y="6933159"/>
            <a:ext cx="7602736" cy="885825"/>
            <a:chOff x="0" y="0"/>
            <a:chExt cx="10136982" cy="1181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36982" cy="1181100"/>
            </a:xfrm>
            <a:custGeom>
              <a:avLst/>
              <a:gdLst/>
              <a:ahLst/>
              <a:cxnLst/>
              <a:rect r="r" b="b" t="t" l="l"/>
              <a:pathLst>
                <a:path h="1181100" w="10136982">
                  <a:moveTo>
                    <a:pt x="0" y="0"/>
                  </a:moveTo>
                  <a:lnTo>
                    <a:pt x="10136982" y="0"/>
                  </a:lnTo>
                  <a:lnTo>
                    <a:pt x="10136982" y="1181100"/>
                  </a:lnTo>
                  <a:lnTo>
                    <a:pt x="0" y="11811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136982" cy="12096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Compare PSO-based selection with other methods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485554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78979" y="890885"/>
            <a:ext cx="6278612" cy="784771"/>
            <a:chOff x="0" y="0"/>
            <a:chExt cx="8371483" cy="1046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71484" cy="1046362"/>
            </a:xfrm>
            <a:custGeom>
              <a:avLst/>
              <a:gdLst/>
              <a:ahLst/>
              <a:cxnLst/>
              <a:rect r="r" b="b" t="t" l="l"/>
              <a:pathLst>
                <a:path h="1046362" w="8371484">
                  <a:moveTo>
                    <a:pt x="0" y="0"/>
                  </a:moveTo>
                  <a:lnTo>
                    <a:pt x="8371484" y="0"/>
                  </a:lnTo>
                  <a:lnTo>
                    <a:pt x="8371484" y="1046362"/>
                  </a:lnTo>
                  <a:lnTo>
                    <a:pt x="0" y="1046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371483" cy="107493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125"/>
                </a:lnSpc>
              </a:pPr>
              <a:r>
                <a:rPr lang="en-US" sz="4937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Literature Review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28117" y="1957161"/>
            <a:ext cx="28576" cy="7343787"/>
            <a:chOff x="0" y="0"/>
            <a:chExt cx="38100" cy="97915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100" cy="9791446"/>
            </a:xfrm>
            <a:custGeom>
              <a:avLst/>
              <a:gdLst/>
              <a:ahLst/>
              <a:cxnLst/>
              <a:rect r="r" b="b" t="t" l="l"/>
              <a:pathLst>
                <a:path h="979144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772396"/>
                  </a:lnTo>
                  <a:cubicBezTo>
                    <a:pt x="38100" y="9782937"/>
                    <a:pt x="29591" y="9791446"/>
                    <a:pt x="19050" y="9791446"/>
                  </a:cubicBezTo>
                  <a:cubicBezTo>
                    <a:pt x="8509" y="9791446"/>
                    <a:pt x="0" y="9782937"/>
                    <a:pt x="0" y="977239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5355" y="2603004"/>
            <a:ext cx="753367" cy="28575"/>
            <a:chOff x="0" y="0"/>
            <a:chExt cx="100449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4443" cy="38100"/>
            </a:xfrm>
            <a:custGeom>
              <a:avLst/>
              <a:gdLst/>
              <a:ahLst/>
              <a:cxnLst/>
              <a:rect r="r" b="b" t="t" l="l"/>
              <a:pathLst>
                <a:path h="38100" w="10044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85393" y="0"/>
                  </a:lnTo>
                  <a:cubicBezTo>
                    <a:pt x="995934" y="0"/>
                    <a:pt x="1004443" y="8509"/>
                    <a:pt x="1004443" y="19050"/>
                  </a:cubicBezTo>
                  <a:cubicBezTo>
                    <a:pt x="1004443" y="29591"/>
                    <a:pt x="995934" y="38100"/>
                    <a:pt x="9853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4216" y="2330054"/>
            <a:ext cx="574476" cy="574476"/>
            <a:chOff x="0" y="0"/>
            <a:chExt cx="765968" cy="765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53237" cy="753237"/>
            </a:xfrm>
            <a:custGeom>
              <a:avLst/>
              <a:gdLst/>
              <a:ahLst/>
              <a:cxnLst/>
              <a:rect r="r" b="b" t="t" l="l"/>
              <a:pathLst>
                <a:path h="753237" w="753237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612648" y="0"/>
                  </a:lnTo>
                  <a:cubicBezTo>
                    <a:pt x="690372" y="0"/>
                    <a:pt x="753237" y="62992"/>
                    <a:pt x="753237" y="140589"/>
                  </a:cubicBezTo>
                  <a:lnTo>
                    <a:pt x="753237" y="612648"/>
                  </a:lnTo>
                  <a:cubicBezTo>
                    <a:pt x="753237" y="690372"/>
                    <a:pt x="690245" y="753237"/>
                    <a:pt x="612648" y="753237"/>
                  </a:cubicBezTo>
                  <a:lnTo>
                    <a:pt x="140589" y="753237"/>
                  </a:lnTo>
                  <a:cubicBezTo>
                    <a:pt x="62992" y="753237"/>
                    <a:pt x="0" y="690245"/>
                    <a:pt x="0" y="61264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5937" cy="765937"/>
            </a:xfrm>
            <a:custGeom>
              <a:avLst/>
              <a:gdLst/>
              <a:ahLst/>
              <a:cxnLst/>
              <a:rect r="r" b="b" t="t" l="l"/>
              <a:pathLst>
                <a:path h="765937" w="76593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8998" y="0"/>
                  </a:lnTo>
                  <a:lnTo>
                    <a:pt x="618998" y="6350"/>
                  </a:lnTo>
                  <a:lnTo>
                    <a:pt x="618998" y="0"/>
                  </a:lnTo>
                  <a:cubicBezTo>
                    <a:pt x="700151" y="0"/>
                    <a:pt x="765937" y="65786"/>
                    <a:pt x="765937" y="146939"/>
                  </a:cubicBezTo>
                  <a:lnTo>
                    <a:pt x="765937" y="618998"/>
                  </a:lnTo>
                  <a:lnTo>
                    <a:pt x="759587" y="618998"/>
                  </a:lnTo>
                  <a:lnTo>
                    <a:pt x="765937" y="618998"/>
                  </a:lnTo>
                  <a:cubicBezTo>
                    <a:pt x="765937" y="700151"/>
                    <a:pt x="700151" y="765937"/>
                    <a:pt x="618998" y="765937"/>
                  </a:cubicBezTo>
                  <a:lnTo>
                    <a:pt x="618998" y="759587"/>
                  </a:lnTo>
                  <a:lnTo>
                    <a:pt x="618998" y="765937"/>
                  </a:lnTo>
                  <a:lnTo>
                    <a:pt x="146939" y="765937"/>
                  </a:lnTo>
                  <a:lnTo>
                    <a:pt x="146939" y="759587"/>
                  </a:lnTo>
                  <a:lnTo>
                    <a:pt x="146939" y="765937"/>
                  </a:lnTo>
                  <a:cubicBezTo>
                    <a:pt x="65786" y="765937"/>
                    <a:pt x="0" y="700151"/>
                    <a:pt x="0" y="618998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618998"/>
                  </a:lnTo>
                  <a:lnTo>
                    <a:pt x="6350" y="618998"/>
                  </a:lnTo>
                  <a:lnTo>
                    <a:pt x="12700" y="618998"/>
                  </a:lnTo>
                  <a:cubicBezTo>
                    <a:pt x="12700" y="693166"/>
                    <a:pt x="72771" y="753237"/>
                    <a:pt x="146939" y="753237"/>
                  </a:cubicBezTo>
                  <a:lnTo>
                    <a:pt x="618998" y="753237"/>
                  </a:lnTo>
                  <a:cubicBezTo>
                    <a:pt x="693166" y="753237"/>
                    <a:pt x="753237" y="693166"/>
                    <a:pt x="753237" y="618998"/>
                  </a:cubicBezTo>
                  <a:lnTo>
                    <a:pt x="753237" y="146939"/>
                  </a:lnTo>
                  <a:lnTo>
                    <a:pt x="759587" y="146939"/>
                  </a:lnTo>
                  <a:lnTo>
                    <a:pt x="753237" y="146939"/>
                  </a:lnTo>
                  <a:cubicBezTo>
                    <a:pt x="753237" y="72771"/>
                    <a:pt x="693166" y="12700"/>
                    <a:pt x="618998" y="12700"/>
                  </a:cubicBezTo>
                  <a:lnTo>
                    <a:pt x="146939" y="12700"/>
                  </a:lnTo>
                  <a:lnTo>
                    <a:pt x="146939" y="6350"/>
                  </a:lnTo>
                  <a:lnTo>
                    <a:pt x="146939" y="12700"/>
                  </a:lnTo>
                  <a:cubicBezTo>
                    <a:pt x="72771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3112" y="2381845"/>
            <a:ext cx="376684" cy="470892"/>
            <a:chOff x="0" y="0"/>
            <a:chExt cx="502245" cy="6278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245" cy="627857"/>
            </a:xfrm>
            <a:custGeom>
              <a:avLst/>
              <a:gdLst/>
              <a:ahLst/>
              <a:cxnLst/>
              <a:rect r="r" b="b" t="t" l="l"/>
              <a:pathLst>
                <a:path h="627857" w="502245">
                  <a:moveTo>
                    <a:pt x="0" y="0"/>
                  </a:moveTo>
                  <a:lnTo>
                    <a:pt x="502245" y="0"/>
                  </a:lnTo>
                  <a:lnTo>
                    <a:pt x="502245" y="627857"/>
                  </a:lnTo>
                  <a:lnTo>
                    <a:pt x="0" y="627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502245" cy="5897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417118" y="2303412"/>
            <a:ext cx="3139231" cy="542925"/>
            <a:chOff x="0" y="0"/>
            <a:chExt cx="4185642" cy="723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85642" cy="723900"/>
            </a:xfrm>
            <a:custGeom>
              <a:avLst/>
              <a:gdLst/>
              <a:ahLst/>
              <a:cxnLst/>
              <a:rect r="r" b="b" t="t" l="l"/>
              <a:pathLst>
                <a:path h="723900" w="4185642">
                  <a:moveTo>
                    <a:pt x="0" y="0"/>
                  </a:moveTo>
                  <a:lnTo>
                    <a:pt x="4185642" y="0"/>
                  </a:lnTo>
                  <a:lnTo>
                    <a:pt x="4185642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185642" cy="7524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Introduction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417117" y="2846338"/>
            <a:ext cx="8133904" cy="401688"/>
            <a:chOff x="0" y="0"/>
            <a:chExt cx="10845205" cy="5355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845205" cy="535583"/>
            </a:xfrm>
            <a:custGeom>
              <a:avLst/>
              <a:gdLst/>
              <a:ahLst/>
              <a:cxnLst/>
              <a:rect r="r" b="b" t="t" l="l"/>
              <a:pathLst>
                <a:path h="535583" w="10845205">
                  <a:moveTo>
                    <a:pt x="0" y="0"/>
                  </a:moveTo>
                  <a:lnTo>
                    <a:pt x="10845205" y="0"/>
                  </a:lnTo>
                  <a:lnTo>
                    <a:pt x="10845205" y="535583"/>
                  </a:lnTo>
                  <a:lnTo>
                    <a:pt x="0" y="53558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10845205" cy="6308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25"/>
                </a:lnSpc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PSO was introduced by Kennedy and Eberhart (1995).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0221" y="4536281"/>
            <a:ext cx="753367" cy="28575"/>
            <a:chOff x="0" y="0"/>
            <a:chExt cx="1004490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4443" cy="38100"/>
            </a:xfrm>
            <a:custGeom>
              <a:avLst/>
              <a:gdLst/>
              <a:ahLst/>
              <a:cxnLst/>
              <a:rect r="r" b="b" t="t" l="l"/>
              <a:pathLst>
                <a:path h="38100" w="10044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85393" y="0"/>
                  </a:lnTo>
                  <a:cubicBezTo>
                    <a:pt x="995934" y="0"/>
                    <a:pt x="1004443" y="8509"/>
                    <a:pt x="1004443" y="19050"/>
                  </a:cubicBezTo>
                  <a:cubicBezTo>
                    <a:pt x="1004443" y="29591"/>
                    <a:pt x="995934" y="38100"/>
                    <a:pt x="9853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8979" y="4249043"/>
            <a:ext cx="574476" cy="574476"/>
            <a:chOff x="0" y="0"/>
            <a:chExt cx="765968" cy="765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753237" cy="753237"/>
            </a:xfrm>
            <a:custGeom>
              <a:avLst/>
              <a:gdLst/>
              <a:ahLst/>
              <a:cxnLst/>
              <a:rect r="r" b="b" t="t" l="l"/>
              <a:pathLst>
                <a:path h="753237" w="753237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612648" y="0"/>
                  </a:lnTo>
                  <a:cubicBezTo>
                    <a:pt x="690372" y="0"/>
                    <a:pt x="753237" y="62992"/>
                    <a:pt x="753237" y="140589"/>
                  </a:cubicBezTo>
                  <a:lnTo>
                    <a:pt x="753237" y="612648"/>
                  </a:lnTo>
                  <a:cubicBezTo>
                    <a:pt x="753237" y="690372"/>
                    <a:pt x="690245" y="753237"/>
                    <a:pt x="612648" y="753237"/>
                  </a:cubicBezTo>
                  <a:lnTo>
                    <a:pt x="140589" y="753237"/>
                  </a:lnTo>
                  <a:cubicBezTo>
                    <a:pt x="62992" y="753237"/>
                    <a:pt x="0" y="690245"/>
                    <a:pt x="0" y="61264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5937" cy="765937"/>
            </a:xfrm>
            <a:custGeom>
              <a:avLst/>
              <a:gdLst/>
              <a:ahLst/>
              <a:cxnLst/>
              <a:rect r="r" b="b" t="t" l="l"/>
              <a:pathLst>
                <a:path h="765937" w="76593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8998" y="0"/>
                  </a:lnTo>
                  <a:lnTo>
                    <a:pt x="618998" y="6350"/>
                  </a:lnTo>
                  <a:lnTo>
                    <a:pt x="618998" y="0"/>
                  </a:lnTo>
                  <a:cubicBezTo>
                    <a:pt x="700151" y="0"/>
                    <a:pt x="765937" y="65786"/>
                    <a:pt x="765937" y="146939"/>
                  </a:cubicBezTo>
                  <a:lnTo>
                    <a:pt x="765937" y="618998"/>
                  </a:lnTo>
                  <a:lnTo>
                    <a:pt x="759587" y="618998"/>
                  </a:lnTo>
                  <a:lnTo>
                    <a:pt x="765937" y="618998"/>
                  </a:lnTo>
                  <a:cubicBezTo>
                    <a:pt x="765937" y="700151"/>
                    <a:pt x="700151" y="765937"/>
                    <a:pt x="618998" y="765937"/>
                  </a:cubicBezTo>
                  <a:lnTo>
                    <a:pt x="618998" y="759587"/>
                  </a:lnTo>
                  <a:lnTo>
                    <a:pt x="618998" y="765937"/>
                  </a:lnTo>
                  <a:lnTo>
                    <a:pt x="146939" y="765937"/>
                  </a:lnTo>
                  <a:lnTo>
                    <a:pt x="146939" y="759587"/>
                  </a:lnTo>
                  <a:lnTo>
                    <a:pt x="146939" y="765937"/>
                  </a:lnTo>
                  <a:cubicBezTo>
                    <a:pt x="65786" y="765937"/>
                    <a:pt x="0" y="700151"/>
                    <a:pt x="0" y="618998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618998"/>
                  </a:lnTo>
                  <a:lnTo>
                    <a:pt x="6350" y="618998"/>
                  </a:lnTo>
                  <a:lnTo>
                    <a:pt x="12700" y="618998"/>
                  </a:lnTo>
                  <a:cubicBezTo>
                    <a:pt x="12700" y="693166"/>
                    <a:pt x="72771" y="753237"/>
                    <a:pt x="146939" y="753237"/>
                  </a:cubicBezTo>
                  <a:lnTo>
                    <a:pt x="618998" y="753237"/>
                  </a:lnTo>
                  <a:cubicBezTo>
                    <a:pt x="693166" y="753237"/>
                    <a:pt x="753237" y="693166"/>
                    <a:pt x="753237" y="618998"/>
                  </a:cubicBezTo>
                  <a:lnTo>
                    <a:pt x="753237" y="146939"/>
                  </a:lnTo>
                  <a:lnTo>
                    <a:pt x="759587" y="146939"/>
                  </a:lnTo>
                  <a:lnTo>
                    <a:pt x="753237" y="146939"/>
                  </a:lnTo>
                  <a:cubicBezTo>
                    <a:pt x="753237" y="72771"/>
                    <a:pt x="693166" y="12700"/>
                    <a:pt x="618998" y="12700"/>
                  </a:cubicBezTo>
                  <a:lnTo>
                    <a:pt x="146939" y="12700"/>
                  </a:lnTo>
                  <a:lnTo>
                    <a:pt x="146939" y="6350"/>
                  </a:lnTo>
                  <a:lnTo>
                    <a:pt x="146939" y="12700"/>
                  </a:lnTo>
                  <a:cubicBezTo>
                    <a:pt x="72771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3112" y="4300835"/>
            <a:ext cx="376684" cy="470892"/>
            <a:chOff x="0" y="0"/>
            <a:chExt cx="502245" cy="6278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245" cy="627857"/>
            </a:xfrm>
            <a:custGeom>
              <a:avLst/>
              <a:gdLst/>
              <a:ahLst/>
              <a:cxnLst/>
              <a:rect r="r" b="b" t="t" l="l"/>
              <a:pathLst>
                <a:path h="627857" w="502245">
                  <a:moveTo>
                    <a:pt x="0" y="0"/>
                  </a:moveTo>
                  <a:lnTo>
                    <a:pt x="502245" y="0"/>
                  </a:lnTo>
                  <a:lnTo>
                    <a:pt x="502245" y="627857"/>
                  </a:lnTo>
                  <a:lnTo>
                    <a:pt x="0" y="627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38100"/>
              <a:ext cx="502245" cy="5897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417117" y="4300835"/>
            <a:ext cx="3615871" cy="483648"/>
            <a:chOff x="0" y="0"/>
            <a:chExt cx="4821161" cy="6448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21162" cy="644864"/>
            </a:xfrm>
            <a:custGeom>
              <a:avLst/>
              <a:gdLst/>
              <a:ahLst/>
              <a:cxnLst/>
              <a:rect r="r" b="b" t="t" l="l"/>
              <a:pathLst>
                <a:path h="644864" w="4821162">
                  <a:moveTo>
                    <a:pt x="0" y="0"/>
                  </a:moveTo>
                  <a:lnTo>
                    <a:pt x="4821162" y="0"/>
                  </a:lnTo>
                  <a:lnTo>
                    <a:pt x="4821162" y="644864"/>
                  </a:lnTo>
                  <a:lnTo>
                    <a:pt x="0" y="644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821161" cy="6734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Feature Se</a:t>
              </a: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lection 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417118" y="5039469"/>
            <a:ext cx="8867196" cy="1950796"/>
            <a:chOff x="0" y="0"/>
            <a:chExt cx="11822928" cy="260106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822927" cy="2601062"/>
            </a:xfrm>
            <a:custGeom>
              <a:avLst/>
              <a:gdLst/>
              <a:ahLst/>
              <a:cxnLst/>
              <a:rect r="r" b="b" t="t" l="l"/>
              <a:pathLst>
                <a:path h="2601062" w="11822927">
                  <a:moveTo>
                    <a:pt x="0" y="0"/>
                  </a:moveTo>
                  <a:lnTo>
                    <a:pt x="11822927" y="0"/>
                  </a:lnTo>
                  <a:lnTo>
                    <a:pt x="11822927" y="2601062"/>
                  </a:lnTo>
                  <a:lnTo>
                    <a:pt x="0" y="2601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11822928" cy="26963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18306" indent="-209153" lvl="1">
                <a:lnSpc>
                  <a:spcPts val="3123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Xue et a</a:t>
              </a: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l. (2014): Surveyed PSO applications, highlighting advantages over traditional methods.</a:t>
              </a:r>
            </a:p>
            <a:p>
              <a:pPr algn="l" marL="418306" indent="-209153" lvl="1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Cervante et al. (2012): Improved classification accuracy &amp; efficiency using PSO.</a:t>
              </a:r>
            </a:p>
            <a:p>
              <a:pPr algn="l">
                <a:lnSpc>
                  <a:spcPts val="3123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5355" y="7339639"/>
            <a:ext cx="753367" cy="28575"/>
            <a:chOff x="0" y="0"/>
            <a:chExt cx="1004490" cy="38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4443" cy="38100"/>
            </a:xfrm>
            <a:custGeom>
              <a:avLst/>
              <a:gdLst/>
              <a:ahLst/>
              <a:cxnLst/>
              <a:rect r="r" b="b" t="t" l="l"/>
              <a:pathLst>
                <a:path h="38100" w="10044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85393" y="0"/>
                  </a:lnTo>
                  <a:cubicBezTo>
                    <a:pt x="995934" y="0"/>
                    <a:pt x="1004443" y="8509"/>
                    <a:pt x="1004443" y="19050"/>
                  </a:cubicBezTo>
                  <a:cubicBezTo>
                    <a:pt x="1004443" y="29591"/>
                    <a:pt x="995934" y="38100"/>
                    <a:pt x="9853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55167" y="7052400"/>
            <a:ext cx="574476" cy="574476"/>
            <a:chOff x="0" y="0"/>
            <a:chExt cx="765968" cy="76596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6350" y="6350"/>
              <a:ext cx="753237" cy="753237"/>
            </a:xfrm>
            <a:custGeom>
              <a:avLst/>
              <a:gdLst/>
              <a:ahLst/>
              <a:cxnLst/>
              <a:rect r="r" b="b" t="t" l="l"/>
              <a:pathLst>
                <a:path h="753237" w="753237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612648" y="0"/>
                  </a:lnTo>
                  <a:cubicBezTo>
                    <a:pt x="690372" y="0"/>
                    <a:pt x="753237" y="62992"/>
                    <a:pt x="753237" y="140589"/>
                  </a:cubicBezTo>
                  <a:lnTo>
                    <a:pt x="753237" y="612648"/>
                  </a:lnTo>
                  <a:cubicBezTo>
                    <a:pt x="753237" y="690372"/>
                    <a:pt x="690245" y="753237"/>
                    <a:pt x="612648" y="753237"/>
                  </a:cubicBezTo>
                  <a:lnTo>
                    <a:pt x="140589" y="753237"/>
                  </a:lnTo>
                  <a:cubicBezTo>
                    <a:pt x="62992" y="753237"/>
                    <a:pt x="0" y="690245"/>
                    <a:pt x="0" y="61264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65937" cy="765937"/>
            </a:xfrm>
            <a:custGeom>
              <a:avLst/>
              <a:gdLst/>
              <a:ahLst/>
              <a:cxnLst/>
              <a:rect r="r" b="b" t="t" l="l"/>
              <a:pathLst>
                <a:path h="765937" w="76593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8998" y="0"/>
                  </a:lnTo>
                  <a:lnTo>
                    <a:pt x="618998" y="6350"/>
                  </a:lnTo>
                  <a:lnTo>
                    <a:pt x="618998" y="0"/>
                  </a:lnTo>
                  <a:cubicBezTo>
                    <a:pt x="700151" y="0"/>
                    <a:pt x="765937" y="65786"/>
                    <a:pt x="765937" y="146939"/>
                  </a:cubicBezTo>
                  <a:lnTo>
                    <a:pt x="765937" y="618998"/>
                  </a:lnTo>
                  <a:lnTo>
                    <a:pt x="759587" y="618998"/>
                  </a:lnTo>
                  <a:lnTo>
                    <a:pt x="765937" y="618998"/>
                  </a:lnTo>
                  <a:cubicBezTo>
                    <a:pt x="765937" y="700151"/>
                    <a:pt x="700151" y="765937"/>
                    <a:pt x="618998" y="765937"/>
                  </a:cubicBezTo>
                  <a:lnTo>
                    <a:pt x="618998" y="759587"/>
                  </a:lnTo>
                  <a:lnTo>
                    <a:pt x="618998" y="765937"/>
                  </a:lnTo>
                  <a:lnTo>
                    <a:pt x="146939" y="765937"/>
                  </a:lnTo>
                  <a:lnTo>
                    <a:pt x="146939" y="759587"/>
                  </a:lnTo>
                  <a:lnTo>
                    <a:pt x="146939" y="765937"/>
                  </a:lnTo>
                  <a:cubicBezTo>
                    <a:pt x="65786" y="765937"/>
                    <a:pt x="0" y="700151"/>
                    <a:pt x="0" y="618998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618998"/>
                  </a:lnTo>
                  <a:lnTo>
                    <a:pt x="6350" y="618998"/>
                  </a:lnTo>
                  <a:lnTo>
                    <a:pt x="12700" y="618998"/>
                  </a:lnTo>
                  <a:cubicBezTo>
                    <a:pt x="12700" y="693166"/>
                    <a:pt x="72771" y="753237"/>
                    <a:pt x="146939" y="753237"/>
                  </a:cubicBezTo>
                  <a:lnTo>
                    <a:pt x="618998" y="753237"/>
                  </a:lnTo>
                  <a:cubicBezTo>
                    <a:pt x="693166" y="753237"/>
                    <a:pt x="753237" y="693166"/>
                    <a:pt x="753237" y="618998"/>
                  </a:cubicBezTo>
                  <a:lnTo>
                    <a:pt x="753237" y="146939"/>
                  </a:lnTo>
                  <a:lnTo>
                    <a:pt x="759587" y="146939"/>
                  </a:lnTo>
                  <a:lnTo>
                    <a:pt x="753237" y="146939"/>
                  </a:lnTo>
                  <a:cubicBezTo>
                    <a:pt x="753237" y="72771"/>
                    <a:pt x="693166" y="12700"/>
                    <a:pt x="618998" y="12700"/>
                  </a:cubicBezTo>
                  <a:lnTo>
                    <a:pt x="146939" y="12700"/>
                  </a:lnTo>
                  <a:lnTo>
                    <a:pt x="146939" y="6350"/>
                  </a:lnTo>
                  <a:lnTo>
                    <a:pt x="146939" y="12700"/>
                  </a:lnTo>
                  <a:cubicBezTo>
                    <a:pt x="72771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54063" y="7002661"/>
            <a:ext cx="376684" cy="470892"/>
            <a:chOff x="0" y="0"/>
            <a:chExt cx="502245" cy="62785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02245" cy="627857"/>
            </a:xfrm>
            <a:custGeom>
              <a:avLst/>
              <a:gdLst/>
              <a:ahLst/>
              <a:cxnLst/>
              <a:rect r="r" b="b" t="t" l="l"/>
              <a:pathLst>
                <a:path h="627857" w="502245">
                  <a:moveTo>
                    <a:pt x="0" y="0"/>
                  </a:moveTo>
                  <a:lnTo>
                    <a:pt x="502245" y="0"/>
                  </a:lnTo>
                  <a:lnTo>
                    <a:pt x="502245" y="627857"/>
                  </a:lnTo>
                  <a:lnTo>
                    <a:pt x="0" y="627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38100"/>
              <a:ext cx="502245" cy="5897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2417117" y="7123615"/>
            <a:ext cx="4433598" cy="483648"/>
            <a:chOff x="0" y="0"/>
            <a:chExt cx="5911464" cy="6448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911464" cy="644864"/>
            </a:xfrm>
            <a:custGeom>
              <a:avLst/>
              <a:gdLst/>
              <a:ahLst/>
              <a:cxnLst/>
              <a:rect r="r" b="b" t="t" l="l"/>
              <a:pathLst>
                <a:path h="644864" w="5911464">
                  <a:moveTo>
                    <a:pt x="0" y="0"/>
                  </a:moveTo>
                  <a:lnTo>
                    <a:pt x="5911464" y="0"/>
                  </a:lnTo>
                  <a:lnTo>
                    <a:pt x="5911464" y="644864"/>
                  </a:lnTo>
                  <a:lnTo>
                    <a:pt x="0" y="644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911464" cy="6734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Br</a:t>
              </a: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east Cancer Classification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2417118" y="7736129"/>
            <a:ext cx="9012882" cy="1950796"/>
            <a:chOff x="0" y="0"/>
            <a:chExt cx="12017177" cy="260106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017177" cy="2601062"/>
            </a:xfrm>
            <a:custGeom>
              <a:avLst/>
              <a:gdLst/>
              <a:ahLst/>
              <a:cxnLst/>
              <a:rect r="r" b="b" t="t" l="l"/>
              <a:pathLst>
                <a:path h="2601062" w="12017177">
                  <a:moveTo>
                    <a:pt x="0" y="0"/>
                  </a:moveTo>
                  <a:lnTo>
                    <a:pt x="12017177" y="0"/>
                  </a:lnTo>
                  <a:lnTo>
                    <a:pt x="12017177" y="2601062"/>
                  </a:lnTo>
                  <a:lnTo>
                    <a:pt x="0" y="26010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0"/>
              <a:ext cx="12017177" cy="26963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18306" indent="-209153" lvl="1">
                <a:lnSpc>
                  <a:spcPts val="3123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Shen et al. (2012): Applied PSO on the Wisconsin dataset, outperforming genetic algorithms.</a:t>
              </a:r>
            </a:p>
            <a:p>
              <a:pPr algn="l" marL="418306" indent="-209153" lvl="1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Yao et al. (2015): Hybrid PSO approach for feature selection &amp; parameter tuning.</a:t>
              </a:r>
            </a:p>
            <a:p>
              <a:pPr algn="l">
                <a:lnSpc>
                  <a:spcPts val="3123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878979" y="890885"/>
            <a:ext cx="6278612" cy="784771"/>
            <a:chOff x="0" y="0"/>
            <a:chExt cx="8371483" cy="10463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371484" cy="1046362"/>
            </a:xfrm>
            <a:custGeom>
              <a:avLst/>
              <a:gdLst/>
              <a:ahLst/>
              <a:cxnLst/>
              <a:rect r="r" b="b" t="t" l="l"/>
              <a:pathLst>
                <a:path h="1046362" w="8371484">
                  <a:moveTo>
                    <a:pt x="0" y="0"/>
                  </a:moveTo>
                  <a:lnTo>
                    <a:pt x="8371484" y="0"/>
                  </a:lnTo>
                  <a:lnTo>
                    <a:pt x="8371484" y="1046362"/>
                  </a:lnTo>
                  <a:lnTo>
                    <a:pt x="0" y="104636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371483" cy="107493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125"/>
                </a:lnSpc>
              </a:pPr>
              <a:r>
                <a:rPr lang="en-US" sz="4937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Literature Review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1454" y="1914513"/>
            <a:ext cx="47625" cy="7343787"/>
            <a:chOff x="0" y="0"/>
            <a:chExt cx="63499" cy="979150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499" cy="9791446"/>
            </a:xfrm>
            <a:custGeom>
              <a:avLst/>
              <a:gdLst/>
              <a:ahLst/>
              <a:cxnLst/>
              <a:rect r="r" b="b" t="t" l="l"/>
              <a:pathLst>
                <a:path h="9791446" w="63499">
                  <a:moveTo>
                    <a:pt x="0" y="19050"/>
                  </a:moveTo>
                  <a:cubicBezTo>
                    <a:pt x="0" y="8509"/>
                    <a:pt x="14181" y="0"/>
                    <a:pt x="31749" y="0"/>
                  </a:cubicBezTo>
                  <a:cubicBezTo>
                    <a:pt x="49317" y="0"/>
                    <a:pt x="63499" y="8509"/>
                    <a:pt x="63499" y="19050"/>
                  </a:cubicBezTo>
                  <a:lnTo>
                    <a:pt x="63499" y="9772396"/>
                  </a:lnTo>
                  <a:cubicBezTo>
                    <a:pt x="63499" y="9782937"/>
                    <a:pt x="49317" y="9791446"/>
                    <a:pt x="31749" y="9791446"/>
                  </a:cubicBezTo>
                  <a:cubicBezTo>
                    <a:pt x="14181" y="9791446"/>
                    <a:pt x="0" y="9782937"/>
                    <a:pt x="0" y="9772396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15355" y="2603004"/>
            <a:ext cx="753367" cy="28575"/>
            <a:chOff x="0" y="0"/>
            <a:chExt cx="100449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4443" cy="38100"/>
            </a:xfrm>
            <a:custGeom>
              <a:avLst/>
              <a:gdLst/>
              <a:ahLst/>
              <a:cxnLst/>
              <a:rect r="r" b="b" t="t" l="l"/>
              <a:pathLst>
                <a:path h="38100" w="10044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85393" y="0"/>
                  </a:lnTo>
                  <a:cubicBezTo>
                    <a:pt x="995934" y="0"/>
                    <a:pt x="1004443" y="8509"/>
                    <a:pt x="1004443" y="19050"/>
                  </a:cubicBezTo>
                  <a:cubicBezTo>
                    <a:pt x="1004443" y="29591"/>
                    <a:pt x="995934" y="38100"/>
                    <a:pt x="9853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4216" y="2330054"/>
            <a:ext cx="574476" cy="574476"/>
            <a:chOff x="0" y="0"/>
            <a:chExt cx="765968" cy="765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53237" cy="753237"/>
            </a:xfrm>
            <a:custGeom>
              <a:avLst/>
              <a:gdLst/>
              <a:ahLst/>
              <a:cxnLst/>
              <a:rect r="r" b="b" t="t" l="l"/>
              <a:pathLst>
                <a:path h="753237" w="753237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612648" y="0"/>
                  </a:lnTo>
                  <a:cubicBezTo>
                    <a:pt x="690372" y="0"/>
                    <a:pt x="753237" y="62992"/>
                    <a:pt x="753237" y="140589"/>
                  </a:cubicBezTo>
                  <a:lnTo>
                    <a:pt x="753237" y="612648"/>
                  </a:lnTo>
                  <a:cubicBezTo>
                    <a:pt x="753237" y="690372"/>
                    <a:pt x="690245" y="753237"/>
                    <a:pt x="612648" y="753237"/>
                  </a:cubicBezTo>
                  <a:lnTo>
                    <a:pt x="140589" y="753237"/>
                  </a:lnTo>
                  <a:cubicBezTo>
                    <a:pt x="62992" y="753237"/>
                    <a:pt x="0" y="690245"/>
                    <a:pt x="0" y="61264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5937" cy="765937"/>
            </a:xfrm>
            <a:custGeom>
              <a:avLst/>
              <a:gdLst/>
              <a:ahLst/>
              <a:cxnLst/>
              <a:rect r="r" b="b" t="t" l="l"/>
              <a:pathLst>
                <a:path h="765937" w="76593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8998" y="0"/>
                  </a:lnTo>
                  <a:lnTo>
                    <a:pt x="618998" y="6350"/>
                  </a:lnTo>
                  <a:lnTo>
                    <a:pt x="618998" y="0"/>
                  </a:lnTo>
                  <a:cubicBezTo>
                    <a:pt x="700151" y="0"/>
                    <a:pt x="765937" y="65786"/>
                    <a:pt x="765937" y="146939"/>
                  </a:cubicBezTo>
                  <a:lnTo>
                    <a:pt x="765937" y="618998"/>
                  </a:lnTo>
                  <a:lnTo>
                    <a:pt x="759587" y="618998"/>
                  </a:lnTo>
                  <a:lnTo>
                    <a:pt x="765937" y="618998"/>
                  </a:lnTo>
                  <a:cubicBezTo>
                    <a:pt x="765937" y="700151"/>
                    <a:pt x="700151" y="765937"/>
                    <a:pt x="618998" y="765937"/>
                  </a:cubicBezTo>
                  <a:lnTo>
                    <a:pt x="618998" y="759587"/>
                  </a:lnTo>
                  <a:lnTo>
                    <a:pt x="618998" y="765937"/>
                  </a:lnTo>
                  <a:lnTo>
                    <a:pt x="146939" y="765937"/>
                  </a:lnTo>
                  <a:lnTo>
                    <a:pt x="146939" y="759587"/>
                  </a:lnTo>
                  <a:lnTo>
                    <a:pt x="146939" y="765937"/>
                  </a:lnTo>
                  <a:cubicBezTo>
                    <a:pt x="65786" y="765937"/>
                    <a:pt x="0" y="700151"/>
                    <a:pt x="0" y="618998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618998"/>
                  </a:lnTo>
                  <a:lnTo>
                    <a:pt x="6350" y="618998"/>
                  </a:lnTo>
                  <a:lnTo>
                    <a:pt x="12700" y="618998"/>
                  </a:lnTo>
                  <a:cubicBezTo>
                    <a:pt x="12700" y="693166"/>
                    <a:pt x="72771" y="753237"/>
                    <a:pt x="146939" y="753237"/>
                  </a:cubicBezTo>
                  <a:lnTo>
                    <a:pt x="618998" y="753237"/>
                  </a:lnTo>
                  <a:cubicBezTo>
                    <a:pt x="693166" y="753237"/>
                    <a:pt x="753237" y="693166"/>
                    <a:pt x="753237" y="618998"/>
                  </a:cubicBezTo>
                  <a:lnTo>
                    <a:pt x="753237" y="146939"/>
                  </a:lnTo>
                  <a:lnTo>
                    <a:pt x="759587" y="146939"/>
                  </a:lnTo>
                  <a:lnTo>
                    <a:pt x="753237" y="146939"/>
                  </a:lnTo>
                  <a:cubicBezTo>
                    <a:pt x="753237" y="72771"/>
                    <a:pt x="693166" y="12700"/>
                    <a:pt x="618998" y="12700"/>
                  </a:cubicBezTo>
                  <a:lnTo>
                    <a:pt x="146939" y="12700"/>
                  </a:lnTo>
                  <a:lnTo>
                    <a:pt x="146939" y="6350"/>
                  </a:lnTo>
                  <a:lnTo>
                    <a:pt x="146939" y="12700"/>
                  </a:lnTo>
                  <a:cubicBezTo>
                    <a:pt x="72771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3112" y="2381845"/>
            <a:ext cx="376684" cy="470892"/>
            <a:chOff x="0" y="0"/>
            <a:chExt cx="502245" cy="62785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02245" cy="627857"/>
            </a:xfrm>
            <a:custGeom>
              <a:avLst/>
              <a:gdLst/>
              <a:ahLst/>
              <a:cxnLst/>
              <a:rect r="r" b="b" t="t" l="l"/>
              <a:pathLst>
                <a:path h="627857" w="502245">
                  <a:moveTo>
                    <a:pt x="0" y="0"/>
                  </a:moveTo>
                  <a:lnTo>
                    <a:pt x="502245" y="0"/>
                  </a:lnTo>
                  <a:lnTo>
                    <a:pt x="502245" y="627857"/>
                  </a:lnTo>
                  <a:lnTo>
                    <a:pt x="0" y="62785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38100"/>
              <a:ext cx="502245" cy="58975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378272" y="2361605"/>
            <a:ext cx="3139231" cy="542925"/>
            <a:chOff x="0" y="0"/>
            <a:chExt cx="4185642" cy="7239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85642" cy="723900"/>
            </a:xfrm>
            <a:custGeom>
              <a:avLst/>
              <a:gdLst/>
              <a:ahLst/>
              <a:cxnLst/>
              <a:rect r="r" b="b" t="t" l="l"/>
              <a:pathLst>
                <a:path h="723900" w="4185642">
                  <a:moveTo>
                    <a:pt x="0" y="0"/>
                  </a:moveTo>
                  <a:lnTo>
                    <a:pt x="4185642" y="0"/>
                  </a:lnTo>
                  <a:lnTo>
                    <a:pt x="4185642" y="723900"/>
                  </a:lnTo>
                  <a:lnTo>
                    <a:pt x="0" y="7239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185642" cy="7524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PS</a:t>
              </a: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O Variants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417118" y="2990353"/>
            <a:ext cx="9186937" cy="2338638"/>
            <a:chOff x="0" y="0"/>
            <a:chExt cx="12249249" cy="311818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249248" cy="3118185"/>
            </a:xfrm>
            <a:custGeom>
              <a:avLst/>
              <a:gdLst/>
              <a:ahLst/>
              <a:cxnLst/>
              <a:rect r="r" b="b" t="t" l="l"/>
              <a:pathLst>
                <a:path h="3118185" w="12249248">
                  <a:moveTo>
                    <a:pt x="0" y="0"/>
                  </a:moveTo>
                  <a:lnTo>
                    <a:pt x="12249248" y="0"/>
                  </a:lnTo>
                  <a:lnTo>
                    <a:pt x="12249248" y="3118185"/>
                  </a:lnTo>
                  <a:lnTo>
                    <a:pt x="0" y="31181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61925"/>
              <a:ext cx="12249249" cy="32801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18306" indent="-209153" lvl="1">
                <a:lnSpc>
                  <a:spcPts val="3894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Shi &amp; Eberhart (1998): Introduced inertia weight for exploration-exploitation balance.</a:t>
              </a:r>
            </a:p>
            <a:p>
              <a:pPr algn="l" marL="418306" indent="-209153" lvl="1">
                <a:lnSpc>
                  <a:spcPts val="3894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Clerc &amp; Kennedy (2002): Proposed constriction factor for convergence.</a:t>
              </a:r>
            </a:p>
            <a:p>
              <a:pPr algn="l" marL="418306" indent="-209153" lvl="1">
                <a:lnSpc>
                  <a:spcPts val="3894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Zhan et al. (2009): Adaptive PSO dynamically adjusting parameters.</a:t>
              </a:r>
            </a:p>
            <a:p>
              <a:pPr algn="l">
                <a:lnSpc>
                  <a:spcPts val="389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15355" y="6400354"/>
            <a:ext cx="753367" cy="28575"/>
            <a:chOff x="0" y="0"/>
            <a:chExt cx="1004490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04443" cy="38100"/>
            </a:xfrm>
            <a:custGeom>
              <a:avLst/>
              <a:gdLst/>
              <a:ahLst/>
              <a:cxnLst/>
              <a:rect r="r" b="b" t="t" l="l"/>
              <a:pathLst>
                <a:path h="38100" w="1004443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85393" y="0"/>
                  </a:lnTo>
                  <a:cubicBezTo>
                    <a:pt x="995934" y="0"/>
                    <a:pt x="1004443" y="8509"/>
                    <a:pt x="1004443" y="19050"/>
                  </a:cubicBezTo>
                  <a:cubicBezTo>
                    <a:pt x="1004443" y="29591"/>
                    <a:pt x="995934" y="38100"/>
                    <a:pt x="985393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4216" y="6127402"/>
            <a:ext cx="574476" cy="574476"/>
            <a:chOff x="0" y="0"/>
            <a:chExt cx="765968" cy="7659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753237" cy="753237"/>
            </a:xfrm>
            <a:custGeom>
              <a:avLst/>
              <a:gdLst/>
              <a:ahLst/>
              <a:cxnLst/>
              <a:rect r="r" b="b" t="t" l="l"/>
              <a:pathLst>
                <a:path h="753237" w="753237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612648" y="0"/>
                  </a:lnTo>
                  <a:cubicBezTo>
                    <a:pt x="690372" y="0"/>
                    <a:pt x="753237" y="62992"/>
                    <a:pt x="753237" y="140589"/>
                  </a:cubicBezTo>
                  <a:lnTo>
                    <a:pt x="753237" y="612648"/>
                  </a:lnTo>
                  <a:cubicBezTo>
                    <a:pt x="753237" y="690372"/>
                    <a:pt x="690245" y="753237"/>
                    <a:pt x="612648" y="753237"/>
                  </a:cubicBezTo>
                  <a:lnTo>
                    <a:pt x="140589" y="753237"/>
                  </a:lnTo>
                  <a:cubicBezTo>
                    <a:pt x="62992" y="753237"/>
                    <a:pt x="0" y="690245"/>
                    <a:pt x="0" y="612648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65937" cy="765937"/>
            </a:xfrm>
            <a:custGeom>
              <a:avLst/>
              <a:gdLst/>
              <a:ahLst/>
              <a:cxnLst/>
              <a:rect r="r" b="b" t="t" l="l"/>
              <a:pathLst>
                <a:path h="765937" w="765937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18998" y="0"/>
                  </a:lnTo>
                  <a:lnTo>
                    <a:pt x="618998" y="6350"/>
                  </a:lnTo>
                  <a:lnTo>
                    <a:pt x="618998" y="0"/>
                  </a:lnTo>
                  <a:cubicBezTo>
                    <a:pt x="700151" y="0"/>
                    <a:pt x="765937" y="65786"/>
                    <a:pt x="765937" y="146939"/>
                  </a:cubicBezTo>
                  <a:lnTo>
                    <a:pt x="765937" y="618998"/>
                  </a:lnTo>
                  <a:lnTo>
                    <a:pt x="759587" y="618998"/>
                  </a:lnTo>
                  <a:lnTo>
                    <a:pt x="765937" y="618998"/>
                  </a:lnTo>
                  <a:cubicBezTo>
                    <a:pt x="765937" y="700151"/>
                    <a:pt x="700151" y="765937"/>
                    <a:pt x="618998" y="765937"/>
                  </a:cubicBezTo>
                  <a:lnTo>
                    <a:pt x="618998" y="759587"/>
                  </a:lnTo>
                  <a:lnTo>
                    <a:pt x="618998" y="765937"/>
                  </a:lnTo>
                  <a:lnTo>
                    <a:pt x="146939" y="765937"/>
                  </a:lnTo>
                  <a:lnTo>
                    <a:pt x="146939" y="759587"/>
                  </a:lnTo>
                  <a:lnTo>
                    <a:pt x="146939" y="765937"/>
                  </a:lnTo>
                  <a:cubicBezTo>
                    <a:pt x="65786" y="765937"/>
                    <a:pt x="0" y="700151"/>
                    <a:pt x="0" y="618998"/>
                  </a:cubicBezTo>
                  <a:lnTo>
                    <a:pt x="0" y="146939"/>
                  </a:lnTo>
                  <a:lnTo>
                    <a:pt x="6350" y="146939"/>
                  </a:lnTo>
                  <a:lnTo>
                    <a:pt x="0" y="146939"/>
                  </a:lnTo>
                  <a:moveTo>
                    <a:pt x="12700" y="146939"/>
                  </a:moveTo>
                  <a:lnTo>
                    <a:pt x="12700" y="618998"/>
                  </a:lnTo>
                  <a:lnTo>
                    <a:pt x="6350" y="618998"/>
                  </a:lnTo>
                  <a:lnTo>
                    <a:pt x="12700" y="618998"/>
                  </a:lnTo>
                  <a:cubicBezTo>
                    <a:pt x="12700" y="693166"/>
                    <a:pt x="72771" y="753237"/>
                    <a:pt x="146939" y="753237"/>
                  </a:cubicBezTo>
                  <a:lnTo>
                    <a:pt x="618998" y="753237"/>
                  </a:lnTo>
                  <a:cubicBezTo>
                    <a:pt x="693166" y="753237"/>
                    <a:pt x="753237" y="693166"/>
                    <a:pt x="753237" y="618998"/>
                  </a:cubicBezTo>
                  <a:lnTo>
                    <a:pt x="753237" y="146939"/>
                  </a:lnTo>
                  <a:lnTo>
                    <a:pt x="759587" y="146939"/>
                  </a:lnTo>
                  <a:lnTo>
                    <a:pt x="753237" y="146939"/>
                  </a:lnTo>
                  <a:cubicBezTo>
                    <a:pt x="753237" y="72771"/>
                    <a:pt x="693166" y="12700"/>
                    <a:pt x="618998" y="12700"/>
                  </a:cubicBezTo>
                  <a:lnTo>
                    <a:pt x="146939" y="12700"/>
                  </a:lnTo>
                  <a:lnTo>
                    <a:pt x="146939" y="6350"/>
                  </a:lnTo>
                  <a:lnTo>
                    <a:pt x="146939" y="12700"/>
                  </a:lnTo>
                  <a:cubicBezTo>
                    <a:pt x="72771" y="12700"/>
                    <a:pt x="12700" y="72771"/>
                    <a:pt x="12700" y="146939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3112" y="6119223"/>
            <a:ext cx="376684" cy="590836"/>
            <a:chOff x="0" y="0"/>
            <a:chExt cx="502245" cy="78778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2245" cy="787781"/>
            </a:xfrm>
            <a:custGeom>
              <a:avLst/>
              <a:gdLst/>
              <a:ahLst/>
              <a:cxnLst/>
              <a:rect r="r" b="b" t="t" l="l"/>
              <a:pathLst>
                <a:path h="787781" w="502245">
                  <a:moveTo>
                    <a:pt x="0" y="0"/>
                  </a:moveTo>
                  <a:lnTo>
                    <a:pt x="502245" y="0"/>
                  </a:lnTo>
                  <a:lnTo>
                    <a:pt x="502245" y="787781"/>
                  </a:lnTo>
                  <a:lnTo>
                    <a:pt x="0" y="78778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38100"/>
              <a:ext cx="502245" cy="74968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2937"/>
                </a:lnSpc>
              </a:pPr>
              <a:r>
                <a:rPr lang="en-US" sz="29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378272" y="6127402"/>
            <a:ext cx="3139231" cy="483648"/>
            <a:chOff x="0" y="0"/>
            <a:chExt cx="4185642" cy="6448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85642" cy="644864"/>
            </a:xfrm>
            <a:custGeom>
              <a:avLst/>
              <a:gdLst/>
              <a:ahLst/>
              <a:cxnLst/>
              <a:rect r="r" b="b" t="t" l="l"/>
              <a:pathLst>
                <a:path h="644864" w="4185642">
                  <a:moveTo>
                    <a:pt x="0" y="0"/>
                  </a:moveTo>
                  <a:lnTo>
                    <a:pt x="4185642" y="0"/>
                  </a:lnTo>
                  <a:lnTo>
                    <a:pt x="4185642" y="644864"/>
                  </a:lnTo>
                  <a:lnTo>
                    <a:pt x="0" y="64486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4185642" cy="67343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B</a:t>
              </a:r>
              <a:r>
                <a:rPr lang="en-US" sz="2437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enchmarking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417118" y="6815739"/>
            <a:ext cx="8133904" cy="769474"/>
            <a:chOff x="0" y="0"/>
            <a:chExt cx="10845205" cy="102596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845205" cy="1025965"/>
            </a:xfrm>
            <a:custGeom>
              <a:avLst/>
              <a:gdLst/>
              <a:ahLst/>
              <a:cxnLst/>
              <a:rect r="r" b="b" t="t" l="l"/>
              <a:pathLst>
                <a:path h="1025965" w="10845205">
                  <a:moveTo>
                    <a:pt x="0" y="0"/>
                  </a:moveTo>
                  <a:lnTo>
                    <a:pt x="10845205" y="0"/>
                  </a:lnTo>
                  <a:lnTo>
                    <a:pt x="10845205" y="1025965"/>
                  </a:lnTo>
                  <a:lnTo>
                    <a:pt x="0" y="102596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10845205" cy="112121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418306" indent="-209153" lvl="1">
                <a:lnSpc>
                  <a:spcPts val="3125"/>
                </a:lnSpc>
                <a:buFont typeface="Arial"/>
                <a:buChar char="•"/>
              </a:pP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Tso</a:t>
              </a:r>
              <a:r>
                <a:rPr lang="en-US" sz="193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ulos &amp; Lagaris (2006): Analyzed PSO on the Rosenbrock function, showcasing its ability to escape local minima.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691009" y="328287"/>
            <a:ext cx="8452991" cy="1781098"/>
            <a:chOff x="0" y="0"/>
            <a:chExt cx="11270655" cy="2374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70655" cy="2374797"/>
            </a:xfrm>
            <a:custGeom>
              <a:avLst/>
              <a:gdLst/>
              <a:ahLst/>
              <a:cxnLst/>
              <a:rect r="r" b="b" t="t" l="l"/>
              <a:pathLst>
                <a:path h="2374797" w="11270655">
                  <a:moveTo>
                    <a:pt x="0" y="0"/>
                  </a:moveTo>
                  <a:lnTo>
                    <a:pt x="11270655" y="0"/>
                  </a:lnTo>
                  <a:lnTo>
                    <a:pt x="11270655" y="2374797"/>
                  </a:lnTo>
                  <a:lnTo>
                    <a:pt x="0" y="23747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1270655" cy="24128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15"/>
                </a:lnSpc>
              </a:pPr>
              <a:r>
                <a:rPr lang="en-US" sz="5000" b="true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UNDERSTANDING THE </a:t>
              </a:r>
            </a:p>
            <a:p>
              <a:pPr algn="l">
                <a:lnSpc>
                  <a:spcPts val="6216"/>
                </a:lnSpc>
              </a:pPr>
              <a:r>
                <a:rPr lang="en-US" sz="5000" b="true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PSO ALGORITHM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1009" y="2743856"/>
            <a:ext cx="10715767" cy="1511982"/>
            <a:chOff x="0" y="0"/>
            <a:chExt cx="14287689" cy="20159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87689" cy="2015976"/>
            </a:xfrm>
            <a:custGeom>
              <a:avLst/>
              <a:gdLst/>
              <a:ahLst/>
              <a:cxnLst/>
              <a:rect r="r" b="b" t="t" l="l"/>
              <a:pathLst>
                <a:path h="2015976" w="14287689">
                  <a:moveTo>
                    <a:pt x="0" y="0"/>
                  </a:moveTo>
                  <a:lnTo>
                    <a:pt x="14287689" y="0"/>
                  </a:lnTo>
                  <a:lnTo>
                    <a:pt x="14287689" y="2015976"/>
                  </a:lnTo>
                  <a:lnTo>
                    <a:pt x="0" y="20159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04775"/>
              <a:ext cx="14287689" cy="21207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PARTICLES IN THE PSO ALGORITHM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PSO consists of multiple particles that explore a defined search space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to find optimal solutions.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91009" y="4387509"/>
            <a:ext cx="10010349" cy="1511982"/>
            <a:chOff x="0" y="0"/>
            <a:chExt cx="13347132" cy="20159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47131" cy="2015976"/>
            </a:xfrm>
            <a:custGeom>
              <a:avLst/>
              <a:gdLst/>
              <a:ahLst/>
              <a:cxnLst/>
              <a:rect r="r" b="b" t="t" l="l"/>
              <a:pathLst>
                <a:path h="2015976" w="13347131">
                  <a:moveTo>
                    <a:pt x="0" y="0"/>
                  </a:moveTo>
                  <a:lnTo>
                    <a:pt x="13347131" y="0"/>
                  </a:lnTo>
                  <a:lnTo>
                    <a:pt x="13347131" y="2015976"/>
                  </a:lnTo>
                  <a:lnTo>
                    <a:pt x="0" y="20159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04775"/>
              <a:ext cx="13347132" cy="21207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POSITION UPDATES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Each particle updates its position based on its own best known 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position and the best known position of the swarm.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91009" y="6221553"/>
            <a:ext cx="9827766" cy="1511982"/>
            <a:chOff x="0" y="0"/>
            <a:chExt cx="13103688" cy="20159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03687" cy="2015976"/>
            </a:xfrm>
            <a:custGeom>
              <a:avLst/>
              <a:gdLst/>
              <a:ahLst/>
              <a:cxnLst/>
              <a:rect r="r" b="b" t="t" l="l"/>
              <a:pathLst>
                <a:path h="2015976" w="13103687">
                  <a:moveTo>
                    <a:pt x="0" y="0"/>
                  </a:moveTo>
                  <a:lnTo>
                    <a:pt x="13103687" y="0"/>
                  </a:lnTo>
                  <a:lnTo>
                    <a:pt x="13103687" y="2015976"/>
                  </a:lnTo>
                  <a:lnTo>
                    <a:pt x="0" y="20159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3103688" cy="21207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PERSONAL BEST POSITION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Each particle keeps track of its own personal best position, 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which influences its movement.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91009" y="7866885"/>
            <a:ext cx="10256749" cy="1511982"/>
            <a:chOff x="0" y="0"/>
            <a:chExt cx="13675665" cy="201597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75664" cy="2015976"/>
            </a:xfrm>
            <a:custGeom>
              <a:avLst/>
              <a:gdLst/>
              <a:ahLst/>
              <a:cxnLst/>
              <a:rect r="r" b="b" t="t" l="l"/>
              <a:pathLst>
                <a:path h="2015976" w="13675664">
                  <a:moveTo>
                    <a:pt x="0" y="0"/>
                  </a:moveTo>
                  <a:lnTo>
                    <a:pt x="13675664" y="0"/>
                  </a:lnTo>
                  <a:lnTo>
                    <a:pt x="13675664" y="2015976"/>
                  </a:lnTo>
                  <a:lnTo>
                    <a:pt x="0" y="20159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13675665" cy="21207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GLOBAL BEST POSITION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The best position found by any particle in the swarm is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termed the global best, guiding other particles.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947757" y="328287"/>
            <a:ext cx="6881224" cy="9458727"/>
          </a:xfrm>
          <a:custGeom>
            <a:avLst/>
            <a:gdLst/>
            <a:ahLst/>
            <a:cxnLst/>
            <a:rect r="r" b="b" t="t" l="l"/>
            <a:pathLst>
              <a:path h="9458727" w="6881224">
                <a:moveTo>
                  <a:pt x="0" y="0"/>
                </a:moveTo>
                <a:lnTo>
                  <a:pt x="6881225" y="0"/>
                </a:lnTo>
                <a:lnTo>
                  <a:pt x="6881225" y="9458728"/>
                </a:lnTo>
                <a:lnTo>
                  <a:pt x="0" y="9458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160216" y="9540793"/>
            <a:ext cx="6079098" cy="299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2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x(t+1)=x(t)+v(t+1) --------- eq(2)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01358" y="9207417"/>
            <a:ext cx="499681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v(t+1)=w⋅v(t)+c1​⋅r1​⋅(pbest​−x(t))+c2​⋅r2​⋅(gbest​−x(t)) --------- eq(1)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91009" y="711089"/>
            <a:ext cx="13136023" cy="999971"/>
            <a:chOff x="0" y="0"/>
            <a:chExt cx="17514697" cy="13332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514697" cy="1333294"/>
            </a:xfrm>
            <a:custGeom>
              <a:avLst/>
              <a:gdLst/>
              <a:ahLst/>
              <a:cxnLst/>
              <a:rect r="r" b="b" t="t" l="l"/>
              <a:pathLst>
                <a:path h="1333294" w="17514697">
                  <a:moveTo>
                    <a:pt x="0" y="0"/>
                  </a:moveTo>
                  <a:lnTo>
                    <a:pt x="17514697" y="0"/>
                  </a:lnTo>
                  <a:lnTo>
                    <a:pt x="17514697" y="1333294"/>
                  </a:lnTo>
                  <a:lnTo>
                    <a:pt x="0" y="13332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7514697" cy="137139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216"/>
                </a:lnSpc>
              </a:pPr>
              <a:r>
                <a:rPr lang="en-US" sz="5000" b="true">
                  <a:solidFill>
                    <a:srgbClr val="1B1B2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UNDERSTANDING THE PSO ALGORITHM 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1009" y="2056957"/>
            <a:ext cx="16905982" cy="1661385"/>
            <a:chOff x="0" y="0"/>
            <a:chExt cx="22541310" cy="22151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41309" cy="2215180"/>
            </a:xfrm>
            <a:custGeom>
              <a:avLst/>
              <a:gdLst/>
              <a:ahLst/>
              <a:cxnLst/>
              <a:rect r="r" b="b" t="t" l="l"/>
              <a:pathLst>
                <a:path h="2215180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2215180"/>
                  </a:lnTo>
                  <a:lnTo>
                    <a:pt x="0" y="22151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04775"/>
              <a:ext cx="22541310" cy="23199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POSITION UPDATE EQUATION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The position of a particle is updated using the formula: 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x(t+1)=x(t)+v(t+1) --------- eq(2)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1009" y="3718342"/>
            <a:ext cx="16905982" cy="997632"/>
            <a:chOff x="0" y="0"/>
            <a:chExt cx="22541310" cy="1330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541309" cy="1330176"/>
            </a:xfrm>
            <a:custGeom>
              <a:avLst/>
              <a:gdLst/>
              <a:ahLst/>
              <a:cxnLst/>
              <a:rect r="r" b="b" t="t" l="l"/>
              <a:pathLst>
                <a:path h="13301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1330176"/>
                  </a:lnTo>
                  <a:lnTo>
                    <a:pt x="0" y="13301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2541310" cy="14349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77031" indent="-188515" lvl="1">
                <a:lnSpc>
                  <a:spcPts val="4062"/>
                </a:lnSpc>
                <a:buFont typeface="Arial"/>
                <a:buChar char="•"/>
              </a:pPr>
              <a:r>
                <a:rPr lang="en-US" b="true" sz="2499">
                  <a:solidFill>
                    <a:srgbClr val="3C3939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VELOCITY UPDATE</a:t>
              </a:r>
            </a:p>
            <a:p>
              <a:pPr algn="l" marL="377031" indent="-188515" lvl="1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Velocity is updated using the following equation:−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1009" y="4876852"/>
            <a:ext cx="16905982" cy="1512141"/>
            <a:chOff x="0" y="0"/>
            <a:chExt cx="22541310" cy="20161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541309" cy="2016188"/>
            </a:xfrm>
            <a:custGeom>
              <a:avLst/>
              <a:gdLst/>
              <a:ahLst/>
              <a:cxnLst/>
              <a:rect r="r" b="b" t="t" l="l"/>
              <a:pathLst>
                <a:path h="2016188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2016188"/>
                  </a:lnTo>
                  <a:lnTo>
                    <a:pt x="0" y="201618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04775"/>
              <a:ext cx="22541310" cy="21209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 v(t+1)=w⋅v(t)+c1​⋅r1​⋅(pbest​−x(t))+c2​⋅r2​⋅(gbest​−x(t)) --------- eq(1)</a:t>
              </a:r>
            </a:p>
            <a:p>
              <a:pPr algn="l">
                <a:lnSpc>
                  <a:spcPts val="4059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where:</a:t>
              </a:r>
            </a:p>
            <a:p>
              <a:pPr algn="l">
                <a:lnSpc>
                  <a:spcPts val="4062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1009" y="6388993"/>
            <a:ext cx="16905982" cy="483282"/>
            <a:chOff x="0" y="0"/>
            <a:chExt cx="22541310" cy="6443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41309" cy="644376"/>
            </a:xfrm>
            <a:custGeom>
              <a:avLst/>
              <a:gdLst/>
              <a:ahLst/>
              <a:cxnLst/>
              <a:rect r="r" b="b" t="t" l="l"/>
              <a:pathLst>
                <a:path h="6443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644376"/>
                  </a:lnTo>
                  <a:lnTo>
                    <a:pt x="0" y="644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22541310" cy="7491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w = inertia weight (controls exploration vs. exploitation)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91009" y="7171488"/>
            <a:ext cx="16905982" cy="483282"/>
            <a:chOff x="0" y="0"/>
            <a:chExt cx="22541310" cy="64437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541309" cy="644376"/>
            </a:xfrm>
            <a:custGeom>
              <a:avLst/>
              <a:gdLst/>
              <a:ahLst/>
              <a:cxnLst/>
              <a:rect r="r" b="b" t="t" l="l"/>
              <a:pathLst>
                <a:path h="6443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644376"/>
                  </a:lnTo>
                  <a:lnTo>
                    <a:pt x="0" y="644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22541310" cy="7491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c1​,c2​ = acceleration coefficients (cognitive and social factors)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91009" y="7788120"/>
            <a:ext cx="16905982" cy="483282"/>
            <a:chOff x="0" y="0"/>
            <a:chExt cx="22541310" cy="64437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541309" cy="644376"/>
            </a:xfrm>
            <a:custGeom>
              <a:avLst/>
              <a:gdLst/>
              <a:ahLst/>
              <a:cxnLst/>
              <a:rect r="r" b="b" t="t" l="l"/>
              <a:pathLst>
                <a:path h="6443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644376"/>
                  </a:lnTo>
                  <a:lnTo>
                    <a:pt x="0" y="644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22541310" cy="7491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r1​,r2​ = random values in [0,1]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91009" y="8404753"/>
            <a:ext cx="16905982" cy="483282"/>
            <a:chOff x="0" y="0"/>
            <a:chExt cx="22541310" cy="6443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541309" cy="644376"/>
            </a:xfrm>
            <a:custGeom>
              <a:avLst/>
              <a:gdLst/>
              <a:ahLst/>
              <a:cxnLst/>
              <a:rect r="r" b="b" t="t" l="l"/>
              <a:pathLst>
                <a:path h="6443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644376"/>
                  </a:lnTo>
                  <a:lnTo>
                    <a:pt x="0" y="644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04775"/>
              <a:ext cx="22541310" cy="7491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pbest​ = personal best position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91009" y="9016659"/>
            <a:ext cx="16905982" cy="483282"/>
            <a:chOff x="0" y="0"/>
            <a:chExt cx="22541310" cy="6443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541309" cy="644376"/>
            </a:xfrm>
            <a:custGeom>
              <a:avLst/>
              <a:gdLst/>
              <a:ahLst/>
              <a:cxnLst/>
              <a:rect r="r" b="b" t="t" l="l"/>
              <a:pathLst>
                <a:path h="644376" w="22541309">
                  <a:moveTo>
                    <a:pt x="0" y="0"/>
                  </a:moveTo>
                  <a:lnTo>
                    <a:pt x="22541309" y="0"/>
                  </a:lnTo>
                  <a:lnTo>
                    <a:pt x="22541309" y="644376"/>
                  </a:lnTo>
                  <a:lnTo>
                    <a:pt x="0" y="644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04775"/>
              <a:ext cx="22541310" cy="749151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62"/>
                </a:lnSpc>
              </a:pPr>
              <a:r>
                <a:rPr lang="en-US" sz="24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gbest​ = global best position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237" y="450090"/>
            <a:ext cx="15991582" cy="1117060"/>
            <a:chOff x="0" y="0"/>
            <a:chExt cx="21322110" cy="14894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2109" cy="1489414"/>
            </a:xfrm>
            <a:custGeom>
              <a:avLst/>
              <a:gdLst/>
              <a:ahLst/>
              <a:cxnLst/>
              <a:rect r="r" b="b" t="t" l="l"/>
              <a:pathLst>
                <a:path h="1489414" w="21322109">
                  <a:moveTo>
                    <a:pt x="0" y="0"/>
                  </a:moveTo>
                  <a:lnTo>
                    <a:pt x="21322109" y="0"/>
                  </a:lnTo>
                  <a:lnTo>
                    <a:pt x="21322109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322110" cy="1517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Experiment - Rosenbrock Function Minimization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5465" y="2275056"/>
            <a:ext cx="7928535" cy="3434589"/>
            <a:chOff x="0" y="0"/>
            <a:chExt cx="7200872" cy="31193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00871" cy="3119370"/>
            </a:xfrm>
            <a:custGeom>
              <a:avLst/>
              <a:gdLst/>
              <a:ahLst/>
              <a:cxnLst/>
              <a:rect r="r" b="b" t="t" l="l"/>
              <a:pathLst>
                <a:path h="3119370" w="7200871">
                  <a:moveTo>
                    <a:pt x="0" y="0"/>
                  </a:moveTo>
                  <a:lnTo>
                    <a:pt x="7200871" y="0"/>
                  </a:lnTo>
                  <a:lnTo>
                    <a:pt x="7200871" y="3119370"/>
                  </a:lnTo>
                  <a:lnTo>
                    <a:pt x="0" y="31193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7200872" cy="32717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21"/>
                </a:lnSpc>
              </a:pPr>
              <a:r>
                <a:rPr lang="en-US" sz="33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The Rosenbrock function is defined as:</a:t>
              </a:r>
            </a:p>
            <a:p>
              <a:pPr algn="l">
                <a:lnSpc>
                  <a:spcPts val="5521"/>
                </a:lnSpc>
              </a:pPr>
            </a:p>
            <a:p>
              <a:pPr algn="l">
                <a:lnSpc>
                  <a:spcPts val="5521"/>
                </a:lnSpc>
              </a:pPr>
              <a:r>
                <a:rPr lang="en-US" sz="33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f(x, y) = (a−x)^2 +b(y−x^2 )^2 </a:t>
              </a:r>
            </a:p>
            <a:p>
              <a:pPr algn="l">
                <a:lnSpc>
                  <a:spcPts val="5521"/>
                </a:lnSpc>
              </a:pPr>
            </a:p>
            <a:p>
              <a:pPr algn="l">
                <a:lnSpc>
                  <a:spcPts val="552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5465" y="5709645"/>
            <a:ext cx="7313210" cy="4129914"/>
            <a:chOff x="0" y="0"/>
            <a:chExt cx="6642020" cy="3750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42020" cy="3750880"/>
            </a:xfrm>
            <a:custGeom>
              <a:avLst/>
              <a:gdLst/>
              <a:ahLst/>
              <a:cxnLst/>
              <a:rect r="r" b="b" t="t" l="l"/>
              <a:pathLst>
                <a:path h="3750880" w="6642020">
                  <a:moveTo>
                    <a:pt x="0" y="0"/>
                  </a:moveTo>
                  <a:lnTo>
                    <a:pt x="6642020" y="0"/>
                  </a:lnTo>
                  <a:lnTo>
                    <a:pt x="6642020" y="3750880"/>
                  </a:lnTo>
                  <a:lnTo>
                    <a:pt x="0" y="375088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52400"/>
              <a:ext cx="6642020" cy="390328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521"/>
                </a:lnSpc>
              </a:pPr>
              <a:r>
                <a:rPr lang="en-US" sz="33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Where a and b are constants </a:t>
              </a:r>
            </a:p>
            <a:p>
              <a:pPr algn="l">
                <a:lnSpc>
                  <a:spcPts val="5521"/>
                </a:lnSpc>
              </a:pPr>
              <a:r>
                <a:rPr lang="en-US" sz="33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(typically a = 1, b = 100). This function has a global minimum at </a:t>
              </a:r>
              <a:r>
                <a:rPr lang="en-US" sz="3399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(a,1) with a value of 0 </a:t>
              </a:r>
            </a:p>
            <a:p>
              <a:pPr algn="l">
                <a:lnSpc>
                  <a:spcPts val="5521"/>
                </a:lnSpc>
              </a:pPr>
            </a:p>
            <a:p>
              <a:pPr algn="l">
                <a:lnSpc>
                  <a:spcPts val="552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988029" y="1993255"/>
            <a:ext cx="8811873" cy="6300489"/>
          </a:xfrm>
          <a:custGeom>
            <a:avLst/>
            <a:gdLst/>
            <a:ahLst/>
            <a:cxnLst/>
            <a:rect r="r" b="b" t="t" l="l"/>
            <a:pathLst>
              <a:path h="6300489" w="8811873">
                <a:moveTo>
                  <a:pt x="0" y="0"/>
                </a:moveTo>
                <a:lnTo>
                  <a:pt x="8811873" y="0"/>
                </a:lnTo>
                <a:lnTo>
                  <a:pt x="8811873" y="6300490"/>
                </a:lnTo>
                <a:lnTo>
                  <a:pt x="0" y="63004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450090"/>
            <a:ext cx="15991582" cy="1117060"/>
            <a:chOff x="0" y="0"/>
            <a:chExt cx="21322110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22109" cy="1489414"/>
            </a:xfrm>
            <a:custGeom>
              <a:avLst/>
              <a:gdLst/>
              <a:ahLst/>
              <a:cxnLst/>
              <a:rect r="r" b="b" t="t" l="l"/>
              <a:pathLst>
                <a:path h="1489414" w="21322109">
                  <a:moveTo>
                    <a:pt x="0" y="0"/>
                  </a:moveTo>
                  <a:lnTo>
                    <a:pt x="21322109" y="0"/>
                  </a:lnTo>
                  <a:lnTo>
                    <a:pt x="21322109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1322110" cy="1517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Experiment - Rosenbrock Function Minization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1661518"/>
            <a:ext cx="3544044" cy="442912"/>
            <a:chOff x="0" y="0"/>
            <a:chExt cx="4725392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590550"/>
            </a:xfrm>
            <a:custGeom>
              <a:avLst/>
              <a:gdLst/>
              <a:ahLst/>
              <a:cxnLst/>
              <a:rect r="r" b="b" t="t" l="l"/>
              <a:pathLst>
                <a:path h="590550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25392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PSO Parameters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6308" y="2647355"/>
            <a:ext cx="4972645" cy="453629"/>
            <a:chOff x="0" y="0"/>
            <a:chExt cx="6630193" cy="604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30193" cy="604838"/>
            </a:xfrm>
            <a:custGeom>
              <a:avLst/>
              <a:gdLst/>
              <a:ahLst/>
              <a:cxnLst/>
              <a:rect r="r" b="b" t="t" l="l"/>
              <a:pathLst>
                <a:path h="6048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66301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Number of particles: 30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6308" y="3196234"/>
            <a:ext cx="4972645" cy="463154"/>
            <a:chOff x="0" y="0"/>
            <a:chExt cx="6630193" cy="6175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30193" cy="617538"/>
            </a:xfrm>
            <a:custGeom>
              <a:avLst/>
              <a:gdLst/>
              <a:ahLst/>
              <a:cxnLst/>
              <a:rect r="r" b="b" t="t" l="l"/>
              <a:pathLst>
                <a:path h="6175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17538"/>
                  </a:lnTo>
                  <a:lnTo>
                    <a:pt x="0" y="6175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0"/>
              <a:ext cx="6630193" cy="7127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Maximum iterations: 100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6308" y="3864024"/>
            <a:ext cx="4972645" cy="453629"/>
            <a:chOff x="0" y="0"/>
            <a:chExt cx="6630193" cy="604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30193" cy="604838"/>
            </a:xfrm>
            <a:custGeom>
              <a:avLst/>
              <a:gdLst/>
              <a:ahLst/>
              <a:cxnLst/>
              <a:rect r="r" b="b" t="t" l="l"/>
              <a:pathLst>
                <a:path h="6048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66301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Inertia weight (w): 0.7 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86308" y="4419005"/>
            <a:ext cx="4972645" cy="453629"/>
            <a:chOff x="0" y="0"/>
            <a:chExt cx="6630193" cy="6048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30193" cy="604838"/>
            </a:xfrm>
            <a:custGeom>
              <a:avLst/>
              <a:gdLst/>
              <a:ahLst/>
              <a:cxnLst/>
              <a:rect r="r" b="b" t="t" l="l"/>
              <a:pathLst>
                <a:path h="6048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0"/>
              <a:ext cx="66301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Cognitive coefficient (c1): 1.5 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6308" y="5143500"/>
            <a:ext cx="4972645" cy="453629"/>
            <a:chOff x="0" y="0"/>
            <a:chExt cx="6630193" cy="6048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30193" cy="604838"/>
            </a:xfrm>
            <a:custGeom>
              <a:avLst/>
              <a:gdLst/>
              <a:ahLst/>
              <a:cxnLst/>
              <a:rect r="r" b="b" t="t" l="l"/>
              <a:pathLst>
                <a:path h="6048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0"/>
              <a:ext cx="66301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Social coefficient (c2): 1.5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6308" y="5863829"/>
            <a:ext cx="4972645" cy="907256"/>
            <a:chOff x="0" y="0"/>
            <a:chExt cx="6630193" cy="120967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30193" cy="1209675"/>
            </a:xfrm>
            <a:custGeom>
              <a:avLst/>
              <a:gdLst/>
              <a:ahLst/>
              <a:cxnLst/>
              <a:rect r="r" b="b" t="t" l="l"/>
              <a:pathLst>
                <a:path h="1209675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0"/>
              <a:ext cx="6630193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Search space: [-2, 2] for both dimensions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8171947" y="2045967"/>
            <a:ext cx="8811873" cy="6300489"/>
          </a:xfrm>
          <a:custGeom>
            <a:avLst/>
            <a:gdLst/>
            <a:ahLst/>
            <a:cxnLst/>
            <a:rect r="r" b="b" t="t" l="l"/>
            <a:pathLst>
              <a:path h="6300489" w="8811873">
                <a:moveTo>
                  <a:pt x="0" y="0"/>
                </a:moveTo>
                <a:lnTo>
                  <a:pt x="8811873" y="0"/>
                </a:lnTo>
                <a:lnTo>
                  <a:pt x="8811873" y="6300489"/>
                </a:lnTo>
                <a:lnTo>
                  <a:pt x="0" y="6300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776783" y="7533085"/>
            <a:ext cx="3786435" cy="546671"/>
            <a:chOff x="0" y="0"/>
            <a:chExt cx="4725392" cy="68223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682235"/>
            </a:xfrm>
            <a:custGeom>
              <a:avLst/>
              <a:gdLst/>
              <a:ahLst/>
              <a:cxnLst/>
              <a:rect r="r" b="b" t="t" l="l"/>
              <a:pathLst>
                <a:path h="682235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682235"/>
                  </a:lnTo>
                  <a:lnTo>
                    <a:pt x="0" y="6822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4725392" cy="7108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Fitness Function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76783" y="8346456"/>
            <a:ext cx="4972645" cy="453629"/>
            <a:chOff x="0" y="0"/>
            <a:chExt cx="6630193" cy="6048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630193" cy="604838"/>
            </a:xfrm>
            <a:custGeom>
              <a:avLst/>
              <a:gdLst/>
              <a:ahLst/>
              <a:cxnLst/>
              <a:rect r="r" b="b" t="t" l="l"/>
              <a:pathLst>
                <a:path h="604838" w="6630193">
                  <a:moveTo>
                    <a:pt x="0" y="0"/>
                  </a:moveTo>
                  <a:lnTo>
                    <a:pt x="6630193" y="0"/>
                  </a:lnTo>
                  <a:lnTo>
                    <a:pt x="6630193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0"/>
              <a:ext cx="6630193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f(x, y) = (a−x)^2 +b(y−x^2 )^2</a:t>
              </a: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2237" y="450090"/>
            <a:ext cx="15991582" cy="1117060"/>
            <a:chOff x="0" y="0"/>
            <a:chExt cx="21322110" cy="14894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22109" cy="1489414"/>
            </a:xfrm>
            <a:custGeom>
              <a:avLst/>
              <a:gdLst/>
              <a:ahLst/>
              <a:cxnLst/>
              <a:rect r="r" b="b" t="t" l="l"/>
              <a:pathLst>
                <a:path h="1489414" w="21322109">
                  <a:moveTo>
                    <a:pt x="0" y="0"/>
                  </a:moveTo>
                  <a:lnTo>
                    <a:pt x="21322109" y="0"/>
                  </a:lnTo>
                  <a:lnTo>
                    <a:pt x="21322109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322110" cy="1517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Results</a:t>
              </a: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- Rosenbrock Function Optimization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32109" y="1541063"/>
            <a:ext cx="4294585" cy="1360885"/>
            <a:chOff x="0" y="0"/>
            <a:chExt cx="5726113" cy="18145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726113" cy="1814513"/>
            </a:xfrm>
            <a:custGeom>
              <a:avLst/>
              <a:gdLst/>
              <a:ahLst/>
              <a:cxnLst/>
              <a:rect r="r" b="b" t="t" l="l"/>
              <a:pathLst>
                <a:path h="1814513" w="5726113">
                  <a:moveTo>
                    <a:pt x="0" y="0"/>
                  </a:moveTo>
                  <a:lnTo>
                    <a:pt x="5726113" y="0"/>
                  </a:lnTo>
                  <a:lnTo>
                    <a:pt x="5726113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0"/>
              <a:ext cx="5726113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Particles successfully converged to the global minimum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32109" y="2901948"/>
            <a:ext cx="4294585" cy="1360885"/>
            <a:chOff x="0" y="0"/>
            <a:chExt cx="5726113" cy="18145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726113" cy="1814513"/>
            </a:xfrm>
            <a:custGeom>
              <a:avLst/>
              <a:gdLst/>
              <a:ahLst/>
              <a:cxnLst/>
              <a:rect r="r" b="b" t="t" l="l"/>
              <a:pathLst>
                <a:path h="1814513" w="5726113">
                  <a:moveTo>
                    <a:pt x="0" y="0"/>
                  </a:moveTo>
                  <a:lnTo>
                    <a:pt x="5726113" y="0"/>
                  </a:lnTo>
                  <a:lnTo>
                    <a:pt x="5726113" y="1814513"/>
                  </a:lnTo>
                  <a:lnTo>
                    <a:pt x="0" y="18145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5726113" cy="190976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 marL="329902" indent="-164951" lvl="1">
                <a:lnSpc>
                  <a:spcPts val="3562"/>
                </a:lnSpc>
                <a:buFont typeface="Arial"/>
                <a:buChar char="•"/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Visualization shows initial exploration followed by refinement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3866" y="4262833"/>
            <a:ext cx="5145041" cy="5797103"/>
          </a:xfrm>
          <a:custGeom>
            <a:avLst/>
            <a:gdLst/>
            <a:ahLst/>
            <a:cxnLst/>
            <a:rect r="r" b="b" t="t" l="l"/>
            <a:pathLst>
              <a:path h="5797103" w="5145041">
                <a:moveTo>
                  <a:pt x="0" y="0"/>
                </a:moveTo>
                <a:lnTo>
                  <a:pt x="5145040" y="0"/>
                </a:lnTo>
                <a:lnTo>
                  <a:pt x="5145040" y="5797103"/>
                </a:lnTo>
                <a:lnTo>
                  <a:pt x="0" y="57971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357012" y="1541063"/>
            <a:ext cx="11301259" cy="4944301"/>
          </a:xfrm>
          <a:custGeom>
            <a:avLst/>
            <a:gdLst/>
            <a:ahLst/>
            <a:cxnLst/>
            <a:rect r="r" b="b" t="t" l="l"/>
            <a:pathLst>
              <a:path h="4944301" w="11301259">
                <a:moveTo>
                  <a:pt x="0" y="0"/>
                </a:moveTo>
                <a:lnTo>
                  <a:pt x="11301259" y="0"/>
                </a:lnTo>
                <a:lnTo>
                  <a:pt x="11301259" y="4944300"/>
                </a:lnTo>
                <a:lnTo>
                  <a:pt x="0" y="494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71538" y="6366954"/>
            <a:ext cx="5482582" cy="3920046"/>
          </a:xfrm>
          <a:custGeom>
            <a:avLst/>
            <a:gdLst/>
            <a:ahLst/>
            <a:cxnLst/>
            <a:rect r="r" b="b" t="t" l="l"/>
            <a:pathLst>
              <a:path h="3920046" w="5482582">
                <a:moveTo>
                  <a:pt x="0" y="0"/>
                </a:moveTo>
                <a:lnTo>
                  <a:pt x="5482582" y="0"/>
                </a:lnTo>
                <a:lnTo>
                  <a:pt x="5482582" y="3920046"/>
                </a:lnTo>
                <a:lnTo>
                  <a:pt x="0" y="39200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>
            <a:hlinkClick r:id="rId4" tooltip="https://gamma.app/?utm_source=made-with-gamma"/>
          </p:cNvPr>
          <p:cNvSpPr/>
          <p:nvPr/>
        </p:nvSpPr>
        <p:spPr>
          <a:xfrm flipH="false" flipV="false" rot="0">
            <a:off x="16049019" y="9686925"/>
            <a:ext cx="2153256" cy="514350"/>
          </a:xfrm>
          <a:custGeom>
            <a:avLst/>
            <a:gdLst/>
            <a:ahLst/>
            <a:cxnLst/>
            <a:rect r="r" b="b" t="t" l="l"/>
            <a:pathLst>
              <a:path h="514350" w="2153256">
                <a:moveTo>
                  <a:pt x="0" y="0"/>
                </a:moveTo>
                <a:lnTo>
                  <a:pt x="2153256" y="0"/>
                </a:lnTo>
                <a:lnTo>
                  <a:pt x="2153256" y="514350"/>
                </a:lnTo>
                <a:lnTo>
                  <a:pt x="0" y="514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11430000" y="0"/>
            <a:ext cx="6858000" cy="10289827"/>
          </a:xfrm>
          <a:custGeom>
            <a:avLst/>
            <a:gdLst/>
            <a:ahLst/>
            <a:cxnLst/>
            <a:rect r="r" b="b" t="t" l="l"/>
            <a:pathLst>
              <a:path h="10289827" w="6858000">
                <a:moveTo>
                  <a:pt x="0" y="0"/>
                </a:moveTo>
                <a:lnTo>
                  <a:pt x="6858000" y="0"/>
                </a:lnTo>
                <a:lnTo>
                  <a:pt x="6858000" y="10289827"/>
                </a:lnTo>
                <a:lnTo>
                  <a:pt x="0" y="102898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" t="0" r="-13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09786" y="714821"/>
            <a:ext cx="9610428" cy="1624608"/>
            <a:chOff x="0" y="0"/>
            <a:chExt cx="12813903" cy="21661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813903" cy="2166143"/>
            </a:xfrm>
            <a:custGeom>
              <a:avLst/>
              <a:gdLst/>
              <a:ahLst/>
              <a:cxnLst/>
              <a:rect r="r" b="b" t="t" l="l"/>
              <a:pathLst>
                <a:path h="2166143" w="12813903">
                  <a:moveTo>
                    <a:pt x="0" y="0"/>
                  </a:moveTo>
                  <a:lnTo>
                    <a:pt x="12813903" y="0"/>
                  </a:lnTo>
                  <a:lnTo>
                    <a:pt x="12813903" y="2166143"/>
                  </a:lnTo>
                  <a:lnTo>
                    <a:pt x="0" y="21661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813903" cy="220424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374"/>
                </a:lnSpc>
              </a:pPr>
              <a:r>
                <a:rPr lang="en-US" sz="50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Methodology - Breast Cancer Feature Selection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05024" y="2724448"/>
            <a:ext cx="9619952" cy="1526084"/>
            <a:chOff x="0" y="0"/>
            <a:chExt cx="12826603" cy="20347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12813919" cy="2022094"/>
            </a:xfrm>
            <a:custGeom>
              <a:avLst/>
              <a:gdLst/>
              <a:ahLst/>
              <a:cxnLst/>
              <a:rect r="r" b="b" t="t" l="l"/>
              <a:pathLst>
                <a:path h="2022094" w="12813919">
                  <a:moveTo>
                    <a:pt x="0" y="145542"/>
                  </a:moveTo>
                  <a:cubicBezTo>
                    <a:pt x="0" y="65151"/>
                    <a:pt x="65532" y="0"/>
                    <a:pt x="146304" y="0"/>
                  </a:cubicBezTo>
                  <a:lnTo>
                    <a:pt x="12667615" y="0"/>
                  </a:lnTo>
                  <a:cubicBezTo>
                    <a:pt x="12748387" y="0"/>
                    <a:pt x="12813919" y="65151"/>
                    <a:pt x="12813919" y="145542"/>
                  </a:cubicBezTo>
                  <a:lnTo>
                    <a:pt x="12813919" y="1876552"/>
                  </a:lnTo>
                  <a:cubicBezTo>
                    <a:pt x="12813919" y="1956943"/>
                    <a:pt x="12748387" y="2022094"/>
                    <a:pt x="12667615" y="2022094"/>
                  </a:cubicBezTo>
                  <a:lnTo>
                    <a:pt x="146304" y="2022094"/>
                  </a:lnTo>
                  <a:cubicBezTo>
                    <a:pt x="65532" y="2022094"/>
                    <a:pt x="0" y="1956943"/>
                    <a:pt x="0" y="187655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6619" cy="2034794"/>
            </a:xfrm>
            <a:custGeom>
              <a:avLst/>
              <a:gdLst/>
              <a:ahLst/>
              <a:cxnLst/>
              <a:rect r="r" b="b" t="t" l="l"/>
              <a:pathLst>
                <a:path h="2034794" w="12826619">
                  <a:moveTo>
                    <a:pt x="0" y="151892"/>
                  </a:moveTo>
                  <a:cubicBezTo>
                    <a:pt x="0" y="67945"/>
                    <a:pt x="68453" y="0"/>
                    <a:pt x="152654" y="0"/>
                  </a:cubicBezTo>
                  <a:lnTo>
                    <a:pt x="12673965" y="0"/>
                  </a:lnTo>
                  <a:lnTo>
                    <a:pt x="12673965" y="6350"/>
                  </a:lnTo>
                  <a:lnTo>
                    <a:pt x="12673965" y="0"/>
                  </a:lnTo>
                  <a:cubicBezTo>
                    <a:pt x="12758293" y="0"/>
                    <a:pt x="12826619" y="67945"/>
                    <a:pt x="12826619" y="151892"/>
                  </a:cubicBezTo>
                  <a:lnTo>
                    <a:pt x="12820269" y="151892"/>
                  </a:lnTo>
                  <a:lnTo>
                    <a:pt x="12826619" y="151892"/>
                  </a:lnTo>
                  <a:lnTo>
                    <a:pt x="12826619" y="1882902"/>
                  </a:lnTo>
                  <a:lnTo>
                    <a:pt x="12820269" y="1882902"/>
                  </a:lnTo>
                  <a:lnTo>
                    <a:pt x="12826619" y="1882902"/>
                  </a:lnTo>
                  <a:cubicBezTo>
                    <a:pt x="12826619" y="1966849"/>
                    <a:pt x="12758166" y="2034794"/>
                    <a:pt x="12673965" y="2034794"/>
                  </a:cubicBezTo>
                  <a:lnTo>
                    <a:pt x="12673965" y="2028444"/>
                  </a:lnTo>
                  <a:lnTo>
                    <a:pt x="12673965" y="2034794"/>
                  </a:lnTo>
                  <a:lnTo>
                    <a:pt x="152654" y="2034794"/>
                  </a:lnTo>
                  <a:lnTo>
                    <a:pt x="152654" y="2028444"/>
                  </a:lnTo>
                  <a:lnTo>
                    <a:pt x="152654" y="2034794"/>
                  </a:lnTo>
                  <a:cubicBezTo>
                    <a:pt x="68453" y="2034794"/>
                    <a:pt x="0" y="1966849"/>
                    <a:pt x="0" y="1882902"/>
                  </a:cubicBezTo>
                  <a:lnTo>
                    <a:pt x="0" y="151892"/>
                  </a:lnTo>
                  <a:lnTo>
                    <a:pt x="6350" y="151892"/>
                  </a:lnTo>
                  <a:lnTo>
                    <a:pt x="0" y="151892"/>
                  </a:lnTo>
                  <a:moveTo>
                    <a:pt x="12700" y="151892"/>
                  </a:moveTo>
                  <a:lnTo>
                    <a:pt x="12700" y="1882902"/>
                  </a:lnTo>
                  <a:lnTo>
                    <a:pt x="6350" y="1882902"/>
                  </a:lnTo>
                  <a:lnTo>
                    <a:pt x="12700" y="1882902"/>
                  </a:lnTo>
                  <a:cubicBezTo>
                    <a:pt x="12700" y="1959737"/>
                    <a:pt x="75311" y="2022094"/>
                    <a:pt x="152654" y="2022094"/>
                  </a:cubicBezTo>
                  <a:lnTo>
                    <a:pt x="12673965" y="2022094"/>
                  </a:lnTo>
                  <a:cubicBezTo>
                    <a:pt x="12751308" y="2022094"/>
                    <a:pt x="12813919" y="1959737"/>
                    <a:pt x="12813919" y="1882902"/>
                  </a:cubicBezTo>
                  <a:lnTo>
                    <a:pt x="12813919" y="151892"/>
                  </a:lnTo>
                  <a:cubicBezTo>
                    <a:pt x="12813919" y="75057"/>
                    <a:pt x="12751308" y="12700"/>
                    <a:pt x="12673965" y="12700"/>
                  </a:cubicBezTo>
                  <a:lnTo>
                    <a:pt x="152654" y="12700"/>
                  </a:lnTo>
                  <a:lnTo>
                    <a:pt x="152654" y="6350"/>
                  </a:lnTo>
                  <a:lnTo>
                    <a:pt x="152654" y="12700"/>
                  </a:lnTo>
                  <a:cubicBezTo>
                    <a:pt x="75311" y="12700"/>
                    <a:pt x="12700" y="75057"/>
                    <a:pt x="12700" y="151892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79165" y="2998589"/>
            <a:ext cx="3249215" cy="406003"/>
            <a:chOff x="0" y="0"/>
            <a:chExt cx="4332287" cy="54133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32287" cy="541337"/>
            </a:xfrm>
            <a:custGeom>
              <a:avLst/>
              <a:gdLst/>
              <a:ahLst/>
              <a:cxnLst/>
              <a:rect r="r" b="b" t="t" l="l"/>
              <a:pathLst>
                <a:path h="541337" w="4332287">
                  <a:moveTo>
                    <a:pt x="0" y="0"/>
                  </a:moveTo>
                  <a:lnTo>
                    <a:pt x="4332287" y="0"/>
                  </a:lnTo>
                  <a:lnTo>
                    <a:pt x="4332287" y="541337"/>
                  </a:lnTo>
                  <a:lnTo>
                    <a:pt x="0" y="5413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4332287" cy="5699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Dataset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9165" y="3560415"/>
            <a:ext cx="9071670" cy="415975"/>
            <a:chOff x="0" y="0"/>
            <a:chExt cx="12095560" cy="55463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95560" cy="554633"/>
            </a:xfrm>
            <a:custGeom>
              <a:avLst/>
              <a:gdLst/>
              <a:ahLst/>
              <a:cxnLst/>
              <a:rect r="r" b="b" t="t" l="l"/>
              <a:pathLst>
                <a:path h="554633" w="12095560">
                  <a:moveTo>
                    <a:pt x="0" y="0"/>
                  </a:moveTo>
                  <a:lnTo>
                    <a:pt x="12095560" y="0"/>
                  </a:lnTo>
                  <a:lnTo>
                    <a:pt x="12095560" y="554633"/>
                  </a:lnTo>
                  <a:lnTo>
                    <a:pt x="0" y="55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12095560" cy="64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Wisconsin Breast Cancer Dataset (30 features, 569 samples).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5024" y="4500860"/>
            <a:ext cx="9619952" cy="1526084"/>
            <a:chOff x="0" y="0"/>
            <a:chExt cx="12826603" cy="20347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12813919" cy="2022094"/>
            </a:xfrm>
            <a:custGeom>
              <a:avLst/>
              <a:gdLst/>
              <a:ahLst/>
              <a:cxnLst/>
              <a:rect r="r" b="b" t="t" l="l"/>
              <a:pathLst>
                <a:path h="2022094" w="12813919">
                  <a:moveTo>
                    <a:pt x="0" y="145542"/>
                  </a:moveTo>
                  <a:cubicBezTo>
                    <a:pt x="0" y="65151"/>
                    <a:pt x="65532" y="0"/>
                    <a:pt x="146304" y="0"/>
                  </a:cubicBezTo>
                  <a:lnTo>
                    <a:pt x="12667615" y="0"/>
                  </a:lnTo>
                  <a:cubicBezTo>
                    <a:pt x="12748387" y="0"/>
                    <a:pt x="12813919" y="65151"/>
                    <a:pt x="12813919" y="145542"/>
                  </a:cubicBezTo>
                  <a:lnTo>
                    <a:pt x="12813919" y="1876552"/>
                  </a:lnTo>
                  <a:cubicBezTo>
                    <a:pt x="12813919" y="1956943"/>
                    <a:pt x="12748387" y="2022094"/>
                    <a:pt x="12667615" y="2022094"/>
                  </a:cubicBezTo>
                  <a:lnTo>
                    <a:pt x="146304" y="2022094"/>
                  </a:lnTo>
                  <a:cubicBezTo>
                    <a:pt x="65532" y="2022094"/>
                    <a:pt x="0" y="1956943"/>
                    <a:pt x="0" y="187655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26619" cy="2034794"/>
            </a:xfrm>
            <a:custGeom>
              <a:avLst/>
              <a:gdLst/>
              <a:ahLst/>
              <a:cxnLst/>
              <a:rect r="r" b="b" t="t" l="l"/>
              <a:pathLst>
                <a:path h="2034794" w="12826619">
                  <a:moveTo>
                    <a:pt x="0" y="151892"/>
                  </a:moveTo>
                  <a:cubicBezTo>
                    <a:pt x="0" y="67945"/>
                    <a:pt x="68453" y="0"/>
                    <a:pt x="152654" y="0"/>
                  </a:cubicBezTo>
                  <a:lnTo>
                    <a:pt x="12673965" y="0"/>
                  </a:lnTo>
                  <a:lnTo>
                    <a:pt x="12673965" y="6350"/>
                  </a:lnTo>
                  <a:lnTo>
                    <a:pt x="12673965" y="0"/>
                  </a:lnTo>
                  <a:cubicBezTo>
                    <a:pt x="12758293" y="0"/>
                    <a:pt x="12826619" y="67945"/>
                    <a:pt x="12826619" y="151892"/>
                  </a:cubicBezTo>
                  <a:lnTo>
                    <a:pt x="12820269" y="151892"/>
                  </a:lnTo>
                  <a:lnTo>
                    <a:pt x="12826619" y="151892"/>
                  </a:lnTo>
                  <a:lnTo>
                    <a:pt x="12826619" y="1882902"/>
                  </a:lnTo>
                  <a:lnTo>
                    <a:pt x="12820269" y="1882902"/>
                  </a:lnTo>
                  <a:lnTo>
                    <a:pt x="12826619" y="1882902"/>
                  </a:lnTo>
                  <a:cubicBezTo>
                    <a:pt x="12826619" y="1966849"/>
                    <a:pt x="12758166" y="2034794"/>
                    <a:pt x="12673965" y="2034794"/>
                  </a:cubicBezTo>
                  <a:lnTo>
                    <a:pt x="12673965" y="2028444"/>
                  </a:lnTo>
                  <a:lnTo>
                    <a:pt x="12673965" y="2034794"/>
                  </a:lnTo>
                  <a:lnTo>
                    <a:pt x="152654" y="2034794"/>
                  </a:lnTo>
                  <a:lnTo>
                    <a:pt x="152654" y="2028444"/>
                  </a:lnTo>
                  <a:lnTo>
                    <a:pt x="152654" y="2034794"/>
                  </a:lnTo>
                  <a:cubicBezTo>
                    <a:pt x="68453" y="2034794"/>
                    <a:pt x="0" y="1966849"/>
                    <a:pt x="0" y="1882902"/>
                  </a:cubicBezTo>
                  <a:lnTo>
                    <a:pt x="0" y="151892"/>
                  </a:lnTo>
                  <a:lnTo>
                    <a:pt x="6350" y="151892"/>
                  </a:lnTo>
                  <a:lnTo>
                    <a:pt x="0" y="151892"/>
                  </a:lnTo>
                  <a:moveTo>
                    <a:pt x="12700" y="151892"/>
                  </a:moveTo>
                  <a:lnTo>
                    <a:pt x="12700" y="1882902"/>
                  </a:lnTo>
                  <a:lnTo>
                    <a:pt x="6350" y="1882902"/>
                  </a:lnTo>
                  <a:lnTo>
                    <a:pt x="12700" y="1882902"/>
                  </a:lnTo>
                  <a:cubicBezTo>
                    <a:pt x="12700" y="1959737"/>
                    <a:pt x="75311" y="2022094"/>
                    <a:pt x="152654" y="2022094"/>
                  </a:cubicBezTo>
                  <a:lnTo>
                    <a:pt x="12673965" y="2022094"/>
                  </a:lnTo>
                  <a:cubicBezTo>
                    <a:pt x="12751308" y="2022094"/>
                    <a:pt x="12813919" y="1959737"/>
                    <a:pt x="12813919" y="1882902"/>
                  </a:cubicBezTo>
                  <a:lnTo>
                    <a:pt x="12813919" y="151892"/>
                  </a:lnTo>
                  <a:cubicBezTo>
                    <a:pt x="12813919" y="75057"/>
                    <a:pt x="12751308" y="12700"/>
                    <a:pt x="12673965" y="12700"/>
                  </a:cubicBezTo>
                  <a:lnTo>
                    <a:pt x="152654" y="12700"/>
                  </a:lnTo>
                  <a:lnTo>
                    <a:pt x="152654" y="6350"/>
                  </a:lnTo>
                  <a:lnTo>
                    <a:pt x="152654" y="12700"/>
                  </a:lnTo>
                  <a:cubicBezTo>
                    <a:pt x="75311" y="12700"/>
                    <a:pt x="12700" y="75057"/>
                    <a:pt x="12700" y="151892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79165" y="4775001"/>
            <a:ext cx="3249215" cy="499427"/>
            <a:chOff x="0" y="0"/>
            <a:chExt cx="4332287" cy="6659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32287" cy="665903"/>
            </a:xfrm>
            <a:custGeom>
              <a:avLst/>
              <a:gdLst/>
              <a:ahLst/>
              <a:cxnLst/>
              <a:rect r="r" b="b" t="t" l="l"/>
              <a:pathLst>
                <a:path h="665903" w="4332287">
                  <a:moveTo>
                    <a:pt x="0" y="0"/>
                  </a:moveTo>
                  <a:lnTo>
                    <a:pt x="4332287" y="0"/>
                  </a:lnTo>
                  <a:lnTo>
                    <a:pt x="4332287" y="665903"/>
                  </a:lnTo>
                  <a:lnTo>
                    <a:pt x="0" y="66590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332287" cy="69447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Goal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79165" y="5336827"/>
            <a:ext cx="9071670" cy="415975"/>
            <a:chOff x="0" y="0"/>
            <a:chExt cx="12095560" cy="5546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095560" cy="554633"/>
            </a:xfrm>
            <a:custGeom>
              <a:avLst/>
              <a:gdLst/>
              <a:ahLst/>
              <a:cxnLst/>
              <a:rect r="r" b="b" t="t" l="l"/>
              <a:pathLst>
                <a:path h="554633" w="12095560">
                  <a:moveTo>
                    <a:pt x="0" y="0"/>
                  </a:moveTo>
                  <a:lnTo>
                    <a:pt x="12095560" y="0"/>
                  </a:lnTo>
                  <a:lnTo>
                    <a:pt x="12095560" y="554633"/>
                  </a:lnTo>
                  <a:lnTo>
                    <a:pt x="0" y="55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12095560" cy="64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Reduce features while maintaining classification accuracy.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05024" y="6277272"/>
            <a:ext cx="9619952" cy="1526084"/>
            <a:chOff x="0" y="0"/>
            <a:chExt cx="12826603" cy="20347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12813919" cy="2022094"/>
            </a:xfrm>
            <a:custGeom>
              <a:avLst/>
              <a:gdLst/>
              <a:ahLst/>
              <a:cxnLst/>
              <a:rect r="r" b="b" t="t" l="l"/>
              <a:pathLst>
                <a:path h="2022094" w="12813919">
                  <a:moveTo>
                    <a:pt x="0" y="145542"/>
                  </a:moveTo>
                  <a:cubicBezTo>
                    <a:pt x="0" y="65151"/>
                    <a:pt x="65532" y="0"/>
                    <a:pt x="146304" y="0"/>
                  </a:cubicBezTo>
                  <a:lnTo>
                    <a:pt x="12667615" y="0"/>
                  </a:lnTo>
                  <a:cubicBezTo>
                    <a:pt x="12748387" y="0"/>
                    <a:pt x="12813919" y="65151"/>
                    <a:pt x="12813919" y="145542"/>
                  </a:cubicBezTo>
                  <a:lnTo>
                    <a:pt x="12813919" y="1876552"/>
                  </a:lnTo>
                  <a:cubicBezTo>
                    <a:pt x="12813919" y="1956943"/>
                    <a:pt x="12748387" y="2022094"/>
                    <a:pt x="12667615" y="2022094"/>
                  </a:cubicBezTo>
                  <a:lnTo>
                    <a:pt x="146304" y="2022094"/>
                  </a:lnTo>
                  <a:cubicBezTo>
                    <a:pt x="65532" y="2022094"/>
                    <a:pt x="0" y="1956943"/>
                    <a:pt x="0" y="187655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826619" cy="2034794"/>
            </a:xfrm>
            <a:custGeom>
              <a:avLst/>
              <a:gdLst/>
              <a:ahLst/>
              <a:cxnLst/>
              <a:rect r="r" b="b" t="t" l="l"/>
              <a:pathLst>
                <a:path h="2034794" w="12826619">
                  <a:moveTo>
                    <a:pt x="0" y="151892"/>
                  </a:moveTo>
                  <a:cubicBezTo>
                    <a:pt x="0" y="67945"/>
                    <a:pt x="68453" y="0"/>
                    <a:pt x="152654" y="0"/>
                  </a:cubicBezTo>
                  <a:lnTo>
                    <a:pt x="12673965" y="0"/>
                  </a:lnTo>
                  <a:lnTo>
                    <a:pt x="12673965" y="6350"/>
                  </a:lnTo>
                  <a:lnTo>
                    <a:pt x="12673965" y="0"/>
                  </a:lnTo>
                  <a:cubicBezTo>
                    <a:pt x="12758293" y="0"/>
                    <a:pt x="12826619" y="67945"/>
                    <a:pt x="12826619" y="151892"/>
                  </a:cubicBezTo>
                  <a:lnTo>
                    <a:pt x="12820269" y="151892"/>
                  </a:lnTo>
                  <a:lnTo>
                    <a:pt x="12826619" y="151892"/>
                  </a:lnTo>
                  <a:lnTo>
                    <a:pt x="12826619" y="1882902"/>
                  </a:lnTo>
                  <a:lnTo>
                    <a:pt x="12820269" y="1882902"/>
                  </a:lnTo>
                  <a:lnTo>
                    <a:pt x="12826619" y="1882902"/>
                  </a:lnTo>
                  <a:cubicBezTo>
                    <a:pt x="12826619" y="1966849"/>
                    <a:pt x="12758166" y="2034794"/>
                    <a:pt x="12673965" y="2034794"/>
                  </a:cubicBezTo>
                  <a:lnTo>
                    <a:pt x="12673965" y="2028444"/>
                  </a:lnTo>
                  <a:lnTo>
                    <a:pt x="12673965" y="2034794"/>
                  </a:lnTo>
                  <a:lnTo>
                    <a:pt x="152654" y="2034794"/>
                  </a:lnTo>
                  <a:lnTo>
                    <a:pt x="152654" y="2028444"/>
                  </a:lnTo>
                  <a:lnTo>
                    <a:pt x="152654" y="2034794"/>
                  </a:lnTo>
                  <a:cubicBezTo>
                    <a:pt x="68453" y="2034794"/>
                    <a:pt x="0" y="1966849"/>
                    <a:pt x="0" y="1882902"/>
                  </a:cubicBezTo>
                  <a:lnTo>
                    <a:pt x="0" y="151892"/>
                  </a:lnTo>
                  <a:lnTo>
                    <a:pt x="6350" y="151892"/>
                  </a:lnTo>
                  <a:lnTo>
                    <a:pt x="0" y="151892"/>
                  </a:lnTo>
                  <a:moveTo>
                    <a:pt x="12700" y="151892"/>
                  </a:moveTo>
                  <a:lnTo>
                    <a:pt x="12700" y="1882902"/>
                  </a:lnTo>
                  <a:lnTo>
                    <a:pt x="6350" y="1882902"/>
                  </a:lnTo>
                  <a:lnTo>
                    <a:pt x="12700" y="1882902"/>
                  </a:lnTo>
                  <a:cubicBezTo>
                    <a:pt x="12700" y="1959737"/>
                    <a:pt x="75311" y="2022094"/>
                    <a:pt x="152654" y="2022094"/>
                  </a:cubicBezTo>
                  <a:lnTo>
                    <a:pt x="12673965" y="2022094"/>
                  </a:lnTo>
                  <a:cubicBezTo>
                    <a:pt x="12751308" y="2022094"/>
                    <a:pt x="12813919" y="1959737"/>
                    <a:pt x="12813919" y="1882902"/>
                  </a:cubicBezTo>
                  <a:lnTo>
                    <a:pt x="12813919" y="151892"/>
                  </a:lnTo>
                  <a:cubicBezTo>
                    <a:pt x="12813919" y="75057"/>
                    <a:pt x="12751308" y="12700"/>
                    <a:pt x="12673965" y="12700"/>
                  </a:cubicBezTo>
                  <a:lnTo>
                    <a:pt x="152654" y="12700"/>
                  </a:lnTo>
                  <a:lnTo>
                    <a:pt x="152654" y="6350"/>
                  </a:lnTo>
                  <a:lnTo>
                    <a:pt x="152654" y="12700"/>
                  </a:lnTo>
                  <a:cubicBezTo>
                    <a:pt x="75311" y="12700"/>
                    <a:pt x="12700" y="75057"/>
                    <a:pt x="12700" y="151892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179165" y="6551414"/>
            <a:ext cx="3249215" cy="406003"/>
            <a:chOff x="0" y="0"/>
            <a:chExt cx="4332287" cy="5413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32287" cy="541337"/>
            </a:xfrm>
            <a:custGeom>
              <a:avLst/>
              <a:gdLst/>
              <a:ahLst/>
              <a:cxnLst/>
              <a:rect r="r" b="b" t="t" l="l"/>
              <a:pathLst>
                <a:path h="541337" w="4332287">
                  <a:moveTo>
                    <a:pt x="0" y="0"/>
                  </a:moveTo>
                  <a:lnTo>
                    <a:pt x="4332287" y="0"/>
                  </a:lnTo>
                  <a:lnTo>
                    <a:pt x="4332287" y="541337"/>
                  </a:lnTo>
                  <a:lnTo>
                    <a:pt x="0" y="5413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332287" cy="5699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Representation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179165" y="7113240"/>
            <a:ext cx="9071670" cy="415975"/>
            <a:chOff x="0" y="0"/>
            <a:chExt cx="12095560" cy="55463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095560" cy="554633"/>
            </a:xfrm>
            <a:custGeom>
              <a:avLst/>
              <a:gdLst/>
              <a:ahLst/>
              <a:cxnLst/>
              <a:rect r="r" b="b" t="t" l="l"/>
              <a:pathLst>
                <a:path h="554633" w="12095560">
                  <a:moveTo>
                    <a:pt x="0" y="0"/>
                  </a:moveTo>
                  <a:lnTo>
                    <a:pt x="12095560" y="0"/>
                  </a:lnTo>
                  <a:lnTo>
                    <a:pt x="12095560" y="554633"/>
                  </a:lnTo>
                  <a:lnTo>
                    <a:pt x="0" y="55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2095560" cy="64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Each particle represents a binary vector (1=selected, 0=not selected).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05024" y="8053685"/>
            <a:ext cx="9619952" cy="1526084"/>
            <a:chOff x="0" y="0"/>
            <a:chExt cx="12826603" cy="203477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6350" y="6350"/>
              <a:ext cx="12813919" cy="2022094"/>
            </a:xfrm>
            <a:custGeom>
              <a:avLst/>
              <a:gdLst/>
              <a:ahLst/>
              <a:cxnLst/>
              <a:rect r="r" b="b" t="t" l="l"/>
              <a:pathLst>
                <a:path h="2022094" w="12813919">
                  <a:moveTo>
                    <a:pt x="0" y="145542"/>
                  </a:moveTo>
                  <a:cubicBezTo>
                    <a:pt x="0" y="65151"/>
                    <a:pt x="65532" y="0"/>
                    <a:pt x="146304" y="0"/>
                  </a:cubicBezTo>
                  <a:lnTo>
                    <a:pt x="12667615" y="0"/>
                  </a:lnTo>
                  <a:cubicBezTo>
                    <a:pt x="12748387" y="0"/>
                    <a:pt x="12813919" y="65151"/>
                    <a:pt x="12813919" y="145542"/>
                  </a:cubicBezTo>
                  <a:lnTo>
                    <a:pt x="12813919" y="1876552"/>
                  </a:lnTo>
                  <a:cubicBezTo>
                    <a:pt x="12813919" y="1956943"/>
                    <a:pt x="12748387" y="2022094"/>
                    <a:pt x="12667615" y="2022094"/>
                  </a:cubicBezTo>
                  <a:lnTo>
                    <a:pt x="146304" y="2022094"/>
                  </a:lnTo>
                  <a:cubicBezTo>
                    <a:pt x="65532" y="2022094"/>
                    <a:pt x="0" y="1956943"/>
                    <a:pt x="0" y="1876552"/>
                  </a:cubicBezTo>
                  <a:close/>
                </a:path>
              </a:pathLst>
            </a:custGeom>
            <a:solidFill>
              <a:srgbClr val="E1E1E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26619" cy="2034794"/>
            </a:xfrm>
            <a:custGeom>
              <a:avLst/>
              <a:gdLst/>
              <a:ahLst/>
              <a:cxnLst/>
              <a:rect r="r" b="b" t="t" l="l"/>
              <a:pathLst>
                <a:path h="2034794" w="12826619">
                  <a:moveTo>
                    <a:pt x="0" y="151892"/>
                  </a:moveTo>
                  <a:cubicBezTo>
                    <a:pt x="0" y="67945"/>
                    <a:pt x="68453" y="0"/>
                    <a:pt x="152654" y="0"/>
                  </a:cubicBezTo>
                  <a:lnTo>
                    <a:pt x="12673965" y="0"/>
                  </a:lnTo>
                  <a:lnTo>
                    <a:pt x="12673965" y="6350"/>
                  </a:lnTo>
                  <a:lnTo>
                    <a:pt x="12673965" y="0"/>
                  </a:lnTo>
                  <a:cubicBezTo>
                    <a:pt x="12758293" y="0"/>
                    <a:pt x="12826619" y="67945"/>
                    <a:pt x="12826619" y="151892"/>
                  </a:cubicBezTo>
                  <a:lnTo>
                    <a:pt x="12820269" y="151892"/>
                  </a:lnTo>
                  <a:lnTo>
                    <a:pt x="12826619" y="151892"/>
                  </a:lnTo>
                  <a:lnTo>
                    <a:pt x="12826619" y="1882902"/>
                  </a:lnTo>
                  <a:lnTo>
                    <a:pt x="12820269" y="1882902"/>
                  </a:lnTo>
                  <a:lnTo>
                    <a:pt x="12826619" y="1882902"/>
                  </a:lnTo>
                  <a:cubicBezTo>
                    <a:pt x="12826619" y="1966849"/>
                    <a:pt x="12758166" y="2034794"/>
                    <a:pt x="12673965" y="2034794"/>
                  </a:cubicBezTo>
                  <a:lnTo>
                    <a:pt x="12673965" y="2028444"/>
                  </a:lnTo>
                  <a:lnTo>
                    <a:pt x="12673965" y="2034794"/>
                  </a:lnTo>
                  <a:lnTo>
                    <a:pt x="152654" y="2034794"/>
                  </a:lnTo>
                  <a:lnTo>
                    <a:pt x="152654" y="2028444"/>
                  </a:lnTo>
                  <a:lnTo>
                    <a:pt x="152654" y="2034794"/>
                  </a:lnTo>
                  <a:cubicBezTo>
                    <a:pt x="68453" y="2034794"/>
                    <a:pt x="0" y="1966849"/>
                    <a:pt x="0" y="1882902"/>
                  </a:cubicBezTo>
                  <a:lnTo>
                    <a:pt x="0" y="151892"/>
                  </a:lnTo>
                  <a:lnTo>
                    <a:pt x="6350" y="151892"/>
                  </a:lnTo>
                  <a:lnTo>
                    <a:pt x="0" y="151892"/>
                  </a:lnTo>
                  <a:moveTo>
                    <a:pt x="12700" y="151892"/>
                  </a:moveTo>
                  <a:lnTo>
                    <a:pt x="12700" y="1882902"/>
                  </a:lnTo>
                  <a:lnTo>
                    <a:pt x="6350" y="1882902"/>
                  </a:lnTo>
                  <a:lnTo>
                    <a:pt x="12700" y="1882902"/>
                  </a:lnTo>
                  <a:cubicBezTo>
                    <a:pt x="12700" y="1959737"/>
                    <a:pt x="75311" y="2022094"/>
                    <a:pt x="152654" y="2022094"/>
                  </a:cubicBezTo>
                  <a:lnTo>
                    <a:pt x="12673965" y="2022094"/>
                  </a:lnTo>
                  <a:cubicBezTo>
                    <a:pt x="12751308" y="2022094"/>
                    <a:pt x="12813919" y="1959737"/>
                    <a:pt x="12813919" y="1882902"/>
                  </a:cubicBezTo>
                  <a:lnTo>
                    <a:pt x="12813919" y="151892"/>
                  </a:lnTo>
                  <a:cubicBezTo>
                    <a:pt x="12813919" y="75057"/>
                    <a:pt x="12751308" y="12700"/>
                    <a:pt x="12673965" y="12700"/>
                  </a:cubicBezTo>
                  <a:lnTo>
                    <a:pt x="152654" y="12700"/>
                  </a:lnTo>
                  <a:lnTo>
                    <a:pt x="152654" y="6350"/>
                  </a:lnTo>
                  <a:lnTo>
                    <a:pt x="152654" y="12700"/>
                  </a:lnTo>
                  <a:cubicBezTo>
                    <a:pt x="75311" y="12700"/>
                    <a:pt x="12700" y="75057"/>
                    <a:pt x="12700" y="151892"/>
                  </a:cubicBezTo>
                  <a:close/>
                </a:path>
              </a:pathLst>
            </a:custGeom>
            <a:solidFill>
              <a:srgbClr val="C7C7D0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79165" y="8327826"/>
            <a:ext cx="3249215" cy="406003"/>
            <a:chOff x="0" y="0"/>
            <a:chExt cx="4332287" cy="54133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332287" cy="541337"/>
            </a:xfrm>
            <a:custGeom>
              <a:avLst/>
              <a:gdLst/>
              <a:ahLst/>
              <a:cxnLst/>
              <a:rect r="r" b="b" t="t" l="l"/>
              <a:pathLst>
                <a:path h="541337" w="4332287">
                  <a:moveTo>
                    <a:pt x="0" y="0"/>
                  </a:moveTo>
                  <a:lnTo>
                    <a:pt x="4332287" y="0"/>
                  </a:lnTo>
                  <a:lnTo>
                    <a:pt x="4332287" y="541337"/>
                  </a:lnTo>
                  <a:lnTo>
                    <a:pt x="0" y="54133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4332287" cy="56991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187"/>
                </a:lnSpc>
              </a:pPr>
              <a:r>
                <a:rPr lang="en-US" sz="2499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Fitness Function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79165" y="8889652"/>
            <a:ext cx="9071670" cy="415975"/>
            <a:chOff x="0" y="0"/>
            <a:chExt cx="12095560" cy="5546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2095560" cy="554633"/>
            </a:xfrm>
            <a:custGeom>
              <a:avLst/>
              <a:gdLst/>
              <a:ahLst/>
              <a:cxnLst/>
              <a:rect r="r" b="b" t="t" l="l"/>
              <a:pathLst>
                <a:path h="554633" w="12095560">
                  <a:moveTo>
                    <a:pt x="0" y="0"/>
                  </a:moveTo>
                  <a:lnTo>
                    <a:pt x="12095560" y="0"/>
                  </a:lnTo>
                  <a:lnTo>
                    <a:pt x="12095560" y="554633"/>
                  </a:lnTo>
                  <a:lnTo>
                    <a:pt x="0" y="5546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0"/>
              <a:ext cx="12095560" cy="64988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250"/>
                </a:lnSpc>
              </a:pPr>
              <a:r>
                <a:rPr lang="en-US" sz="2000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Fitness function balances accuracy and feature reduction.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11054554" y="4648333"/>
            <a:ext cx="7233446" cy="3546607"/>
          </a:xfrm>
          <a:custGeom>
            <a:avLst/>
            <a:gdLst/>
            <a:ahLst/>
            <a:cxnLst/>
            <a:rect r="r" b="b" t="t" l="l"/>
            <a:pathLst>
              <a:path h="3546607" w="7233446">
                <a:moveTo>
                  <a:pt x="0" y="0"/>
                </a:moveTo>
                <a:lnTo>
                  <a:pt x="7233446" y="0"/>
                </a:lnTo>
                <a:lnTo>
                  <a:pt x="7233446" y="3546607"/>
                </a:lnTo>
                <a:lnTo>
                  <a:pt x="0" y="35466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92238" y="1955899"/>
            <a:ext cx="9445526" cy="1771947"/>
            <a:chOff x="0" y="0"/>
            <a:chExt cx="12594035" cy="23625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4035" cy="2362597"/>
            </a:xfrm>
            <a:custGeom>
              <a:avLst/>
              <a:gdLst/>
              <a:ahLst/>
              <a:cxnLst/>
              <a:rect r="r" b="b" t="t" l="l"/>
              <a:pathLst>
                <a:path h="236259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362597"/>
                  </a:lnTo>
                  <a:lnTo>
                    <a:pt x="0" y="23625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94035" cy="239117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Experiments - Breast Cancer Feature Selection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7475" y="4148286"/>
            <a:ext cx="9455051" cy="4187428"/>
            <a:chOff x="0" y="0"/>
            <a:chExt cx="12606735" cy="558323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606782" cy="5583174"/>
            </a:xfrm>
            <a:custGeom>
              <a:avLst/>
              <a:gdLst/>
              <a:ahLst/>
              <a:cxnLst/>
              <a:rect r="r" b="b" t="t" l="l"/>
              <a:pathLst>
                <a:path h="5583174" w="12606782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12441428" y="0"/>
                  </a:lnTo>
                  <a:lnTo>
                    <a:pt x="12441428" y="6350"/>
                  </a:lnTo>
                  <a:lnTo>
                    <a:pt x="12441428" y="0"/>
                  </a:lnTo>
                  <a:cubicBezTo>
                    <a:pt x="12532741" y="0"/>
                    <a:pt x="12606782" y="73914"/>
                    <a:pt x="12606782" y="165100"/>
                  </a:cubicBezTo>
                  <a:lnTo>
                    <a:pt x="12600432" y="165100"/>
                  </a:lnTo>
                  <a:lnTo>
                    <a:pt x="12606782" y="165100"/>
                  </a:lnTo>
                  <a:lnTo>
                    <a:pt x="12606782" y="5418074"/>
                  </a:lnTo>
                  <a:lnTo>
                    <a:pt x="12600432" y="5418074"/>
                  </a:lnTo>
                  <a:lnTo>
                    <a:pt x="12606782" y="5418074"/>
                  </a:lnTo>
                  <a:cubicBezTo>
                    <a:pt x="12606782" y="5509260"/>
                    <a:pt x="12532741" y="5583174"/>
                    <a:pt x="12441428" y="5583174"/>
                  </a:cubicBezTo>
                  <a:lnTo>
                    <a:pt x="12441428" y="5576824"/>
                  </a:lnTo>
                  <a:lnTo>
                    <a:pt x="12441428" y="5583174"/>
                  </a:lnTo>
                  <a:lnTo>
                    <a:pt x="165354" y="5583174"/>
                  </a:lnTo>
                  <a:lnTo>
                    <a:pt x="165354" y="5576824"/>
                  </a:lnTo>
                  <a:lnTo>
                    <a:pt x="165354" y="5583174"/>
                  </a:lnTo>
                  <a:cubicBezTo>
                    <a:pt x="74041" y="5583174"/>
                    <a:pt x="0" y="5509260"/>
                    <a:pt x="0" y="5418074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5418074"/>
                  </a:lnTo>
                  <a:lnTo>
                    <a:pt x="6350" y="5418074"/>
                  </a:lnTo>
                  <a:lnTo>
                    <a:pt x="12700" y="5418074"/>
                  </a:lnTo>
                  <a:cubicBezTo>
                    <a:pt x="12700" y="5502275"/>
                    <a:pt x="81026" y="5570474"/>
                    <a:pt x="165354" y="5570474"/>
                  </a:cubicBezTo>
                  <a:lnTo>
                    <a:pt x="12441428" y="5570474"/>
                  </a:lnTo>
                  <a:cubicBezTo>
                    <a:pt x="12525756" y="5570474"/>
                    <a:pt x="12594082" y="5502275"/>
                    <a:pt x="12594082" y="5418074"/>
                  </a:cubicBezTo>
                  <a:lnTo>
                    <a:pt x="12594082" y="165100"/>
                  </a:lnTo>
                  <a:cubicBezTo>
                    <a:pt x="12594082" y="80899"/>
                    <a:pt x="12525756" y="12700"/>
                    <a:pt x="12441428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01762" y="4162574"/>
            <a:ext cx="9426476" cy="812899"/>
            <a:chOff x="0" y="0"/>
            <a:chExt cx="12568635" cy="10838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68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85280" y="4342209"/>
            <a:ext cx="4141440" cy="453629"/>
            <a:chOff x="0" y="0"/>
            <a:chExt cx="5521920" cy="6048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Data Split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003280" y="4342209"/>
            <a:ext cx="4141440" cy="453629"/>
            <a:chOff x="0" y="0"/>
            <a:chExt cx="5521920" cy="60483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80% training, 20% testing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01762" y="4975472"/>
            <a:ext cx="9426476" cy="1266528"/>
            <a:chOff x="0" y="0"/>
            <a:chExt cx="12568635" cy="16887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568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5280" y="5155109"/>
            <a:ext cx="4141440" cy="453629"/>
            <a:chOff x="0" y="0"/>
            <a:chExt cx="5521920" cy="60483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Feature Reduction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003280" y="5155109"/>
            <a:ext cx="4141440" cy="907256"/>
            <a:chOff x="0" y="0"/>
            <a:chExt cx="5521920" cy="12096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521920" cy="1209675"/>
            </a:xfrm>
            <a:custGeom>
              <a:avLst/>
              <a:gdLst/>
              <a:ahLst/>
              <a:cxnLst/>
              <a:rect r="r" b="b" t="t" l="l"/>
              <a:pathLst>
                <a:path h="1209675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0"/>
              <a:ext cx="5521920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PSO reduced features from 30 to ~6 while maintaining accuracy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1762" y="6242000"/>
            <a:ext cx="9426476" cy="1266527"/>
            <a:chOff x="0" y="0"/>
            <a:chExt cx="12568635" cy="168870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68682" cy="1688719"/>
            </a:xfrm>
            <a:custGeom>
              <a:avLst/>
              <a:gdLst/>
              <a:ahLst/>
              <a:cxnLst/>
              <a:rect r="r" b="b" t="t" l="l"/>
              <a:pathLst>
                <a:path h="1688719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688719"/>
                  </a:lnTo>
                  <a:lnTo>
                    <a:pt x="0" y="168871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285280" y="6421636"/>
            <a:ext cx="4141440" cy="453629"/>
            <a:chOff x="0" y="0"/>
            <a:chExt cx="5521920" cy="60483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Key Features Selected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003280" y="6421636"/>
            <a:ext cx="4141440" cy="907256"/>
            <a:chOff x="0" y="0"/>
            <a:chExt cx="5521920" cy="120967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521920" cy="1209675"/>
            </a:xfrm>
            <a:custGeom>
              <a:avLst/>
              <a:gdLst/>
              <a:ahLst/>
              <a:cxnLst/>
              <a:rect r="r" b="b" t="t" l="l"/>
              <a:pathLst>
                <a:path h="1209675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1209675"/>
                  </a:lnTo>
                  <a:lnTo>
                    <a:pt x="0" y="12096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0"/>
              <a:ext cx="5521920" cy="13049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Texture, concavity, and symmetry attributes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1762" y="7508527"/>
            <a:ext cx="9426476" cy="812899"/>
            <a:chOff x="0" y="0"/>
            <a:chExt cx="12568635" cy="10838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68682" cy="1083818"/>
            </a:xfrm>
            <a:custGeom>
              <a:avLst/>
              <a:gdLst/>
              <a:ahLst/>
              <a:cxnLst/>
              <a:rect r="r" b="b" t="t" l="l"/>
              <a:pathLst>
                <a:path h="1083818" w="12568682">
                  <a:moveTo>
                    <a:pt x="0" y="0"/>
                  </a:moveTo>
                  <a:lnTo>
                    <a:pt x="12568682" y="0"/>
                  </a:lnTo>
                  <a:lnTo>
                    <a:pt x="12568682" y="1083818"/>
                  </a:lnTo>
                  <a:lnTo>
                    <a:pt x="0" y="108381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85280" y="7688164"/>
            <a:ext cx="4141440" cy="453629"/>
            <a:chOff x="0" y="0"/>
            <a:chExt cx="5521920" cy="6048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Classification Method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03280" y="7688164"/>
            <a:ext cx="4141440" cy="453629"/>
            <a:chOff x="0" y="0"/>
            <a:chExt cx="5521920" cy="6048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21920" cy="604838"/>
            </a:xfrm>
            <a:custGeom>
              <a:avLst/>
              <a:gdLst/>
              <a:ahLst/>
              <a:cxnLst/>
              <a:rect r="r" b="b" t="t" l="l"/>
              <a:pathLst>
                <a:path h="604838" w="5521920">
                  <a:moveTo>
                    <a:pt x="0" y="0"/>
                  </a:moveTo>
                  <a:lnTo>
                    <a:pt x="5521920" y="0"/>
                  </a:lnTo>
                  <a:lnTo>
                    <a:pt x="5521920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5521920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SVM resulted in high accuracy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73900" y="2927136"/>
            <a:ext cx="16230600" cy="5151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Feature Selection for Breast Cancer Classification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Dataset: Wisconsin Breast Cancer (569 samples, 30 features)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Approach: PSO-based feature selection with binary encoding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Setup: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Training/Test split (80/20) with 5-fold cross-validation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PSO parameters: 20 particles, 50 iterations, w = 0.729, c₁ = c₂ = 1.5, α = 0.7</a:t>
            </a:r>
          </a:p>
          <a:p>
            <a:pPr algn="l" marL="685689" indent="-342845" lvl="1">
              <a:lnSpc>
                <a:spcPts val="5172"/>
              </a:lnSpc>
              <a:buFont typeface="Arial"/>
              <a:buChar char="•"/>
            </a:pPr>
            <a:r>
              <a:rPr lang="en-US" sz="31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Outcome: Reduced average feature count from 30 to ~6.4 while maintaining/improving accuracy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473900" y="446515"/>
            <a:ext cx="9445526" cy="1993360"/>
            <a:chOff x="0" y="0"/>
            <a:chExt cx="12594035" cy="265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94035" cy="2657814"/>
            </a:xfrm>
            <a:custGeom>
              <a:avLst/>
              <a:gdLst/>
              <a:ahLst/>
              <a:cxnLst/>
              <a:rect r="r" b="b" t="t" l="l"/>
              <a:pathLst>
                <a:path h="265781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57814"/>
                  </a:lnTo>
                  <a:lnTo>
                    <a:pt x="0" y="2657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594035" cy="26863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Experiment : Feature Selection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9411" y="1912476"/>
            <a:ext cx="15909179" cy="630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77"/>
              </a:lnSpc>
            </a:pP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Parameters Tested: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Inertia weight (w): 0.4–0.9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Cognitive &amp; Social coefficients (c₁, c₂): 1.0–2.0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Swarm sizes: 10, 20, 30, 40 particles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Iterations: 30, 50, 70, 100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Findings: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Best results with 30 particles, w ≈ 0.7–0.8, and c₁ = c₂ ≈ 1.5</a:t>
            </a:r>
          </a:p>
          <a:p>
            <a:pPr algn="l" marL="739400" indent="-369700" lvl="1">
              <a:lnSpc>
                <a:spcPts val="5577"/>
              </a:lnSpc>
              <a:buFont typeface="Arial"/>
              <a:buChar char="•"/>
            </a:pPr>
            <a:r>
              <a:rPr lang="en-US" sz="3424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Convergence typically reached in 40–50 iterations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89411" y="430080"/>
            <a:ext cx="9896783" cy="2099525"/>
            <a:chOff x="0" y="0"/>
            <a:chExt cx="12594035" cy="2671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94035" cy="2671727"/>
            </a:xfrm>
            <a:custGeom>
              <a:avLst/>
              <a:gdLst/>
              <a:ahLst/>
              <a:cxnLst/>
              <a:rect r="r" b="b" t="t" l="l"/>
              <a:pathLst>
                <a:path h="267172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71727"/>
                  </a:lnTo>
                  <a:lnTo>
                    <a:pt x="0" y="2671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594035" cy="27003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HyperParameter Tuning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70007" y="2671441"/>
            <a:ext cx="14499660" cy="509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Metrics Used: Accuracy, Precision, Recall, F1-score, AUC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Results: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Accuracy: 96.49%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Precision: 96.49%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Recall: 96.49%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F1-score: 96.49%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AUC: 99.67%</a:t>
            </a:r>
          </a:p>
          <a:p>
            <a:pPr algn="just" marL="669340" indent="-334670" lvl="1">
              <a:lnSpc>
                <a:spcPts val="5048"/>
              </a:lnSpc>
              <a:buFont typeface="Arial"/>
              <a:buChar char="•"/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Visuals: PSO convergence curve, ROC curve, and confusion matrix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870647" y="417459"/>
            <a:ext cx="9896783" cy="2099525"/>
            <a:chOff x="0" y="0"/>
            <a:chExt cx="12594035" cy="2671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94035" cy="2671727"/>
            </a:xfrm>
            <a:custGeom>
              <a:avLst/>
              <a:gdLst/>
              <a:ahLst/>
              <a:cxnLst/>
              <a:rect r="r" b="b" t="t" l="l"/>
              <a:pathLst>
                <a:path h="2671727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71727"/>
                  </a:lnTo>
                  <a:lnTo>
                    <a:pt x="0" y="26717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594035" cy="27003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Model Evaluation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984859"/>
            <a:ext cx="9522910" cy="6079450"/>
          </a:xfrm>
          <a:custGeom>
            <a:avLst/>
            <a:gdLst/>
            <a:ahLst/>
            <a:cxnLst/>
            <a:rect r="r" b="b" t="t" l="l"/>
            <a:pathLst>
              <a:path h="6079450" w="9522910">
                <a:moveTo>
                  <a:pt x="0" y="0"/>
                </a:moveTo>
                <a:lnTo>
                  <a:pt x="9522910" y="0"/>
                </a:lnTo>
                <a:lnTo>
                  <a:pt x="9522910" y="6079450"/>
                </a:lnTo>
                <a:lnTo>
                  <a:pt x="0" y="6079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11" t="0" r="-3311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46271" y="2984859"/>
            <a:ext cx="8172709" cy="5829866"/>
          </a:xfrm>
          <a:custGeom>
            <a:avLst/>
            <a:gdLst/>
            <a:ahLst/>
            <a:cxnLst/>
            <a:rect r="r" b="b" t="t" l="l"/>
            <a:pathLst>
              <a:path h="5829866" w="8172709">
                <a:moveTo>
                  <a:pt x="0" y="0"/>
                </a:moveTo>
                <a:lnTo>
                  <a:pt x="8172709" y="0"/>
                </a:lnTo>
                <a:lnTo>
                  <a:pt x="8172709" y="5829866"/>
                </a:lnTo>
                <a:lnTo>
                  <a:pt x="0" y="58298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14655" y="575952"/>
            <a:ext cx="9445526" cy="1993360"/>
            <a:chOff x="0" y="0"/>
            <a:chExt cx="12594035" cy="265781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94035" cy="2657814"/>
            </a:xfrm>
            <a:custGeom>
              <a:avLst/>
              <a:gdLst/>
              <a:ahLst/>
              <a:cxnLst/>
              <a:rect r="r" b="b" t="t" l="l"/>
              <a:pathLst>
                <a:path h="265781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57814"/>
                  </a:lnTo>
                  <a:lnTo>
                    <a:pt x="0" y="2657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594035" cy="26863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PSO Convergence Curve and PSO Model - ROC Curve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1364" y="2541616"/>
            <a:ext cx="7377566" cy="5820933"/>
          </a:xfrm>
          <a:custGeom>
            <a:avLst/>
            <a:gdLst/>
            <a:ahLst/>
            <a:cxnLst/>
            <a:rect r="r" b="b" t="t" l="l"/>
            <a:pathLst>
              <a:path h="5820933" w="7377566">
                <a:moveTo>
                  <a:pt x="0" y="0"/>
                </a:moveTo>
                <a:lnTo>
                  <a:pt x="7377567" y="0"/>
                </a:lnTo>
                <a:lnTo>
                  <a:pt x="7377567" y="5820933"/>
                </a:lnTo>
                <a:lnTo>
                  <a:pt x="0" y="5820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27088" y="0"/>
            <a:ext cx="9445526" cy="1993360"/>
            <a:chOff x="0" y="0"/>
            <a:chExt cx="12594035" cy="265781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594035" cy="2657814"/>
            </a:xfrm>
            <a:custGeom>
              <a:avLst/>
              <a:gdLst/>
              <a:ahLst/>
              <a:cxnLst/>
              <a:rect r="r" b="b" t="t" l="l"/>
              <a:pathLst>
                <a:path h="265781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2657814"/>
                  </a:lnTo>
                  <a:lnTo>
                    <a:pt x="0" y="26578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594035" cy="26863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PSO Model : Confusion Matrix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9445526" cy="2869660"/>
            <a:chOff x="0" y="0"/>
            <a:chExt cx="12594035" cy="3826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94035" cy="3826214"/>
            </a:xfrm>
            <a:custGeom>
              <a:avLst/>
              <a:gdLst/>
              <a:ahLst/>
              <a:cxnLst/>
              <a:rect r="r" b="b" t="t" l="l"/>
              <a:pathLst>
                <a:path h="3826214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826214"/>
                  </a:lnTo>
                  <a:lnTo>
                    <a:pt x="0" y="38262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2594035" cy="38547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 Comparision with other algorithms: Breast Cancer Feature Selection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7518" y="4148060"/>
            <a:ext cx="9056482" cy="5773507"/>
          </a:xfrm>
          <a:custGeom>
            <a:avLst/>
            <a:gdLst/>
            <a:ahLst/>
            <a:cxnLst/>
            <a:rect r="r" b="b" t="t" l="l"/>
            <a:pathLst>
              <a:path h="5773507" w="9056482">
                <a:moveTo>
                  <a:pt x="0" y="0"/>
                </a:moveTo>
                <a:lnTo>
                  <a:pt x="9056482" y="0"/>
                </a:lnTo>
                <a:lnTo>
                  <a:pt x="9056482" y="5773507"/>
                </a:lnTo>
                <a:lnTo>
                  <a:pt x="0" y="57735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09797" y="5568541"/>
            <a:ext cx="7092906" cy="2260864"/>
          </a:xfrm>
          <a:custGeom>
            <a:avLst/>
            <a:gdLst/>
            <a:ahLst/>
            <a:cxnLst/>
            <a:rect r="r" b="b" t="t" l="l"/>
            <a:pathLst>
              <a:path h="2260864" w="7092906">
                <a:moveTo>
                  <a:pt x="0" y="0"/>
                </a:moveTo>
                <a:lnTo>
                  <a:pt x="7092906" y="0"/>
                </a:lnTo>
                <a:lnTo>
                  <a:pt x="7092906" y="2260864"/>
                </a:lnTo>
                <a:lnTo>
                  <a:pt x="0" y="226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CECF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8" y="3600152"/>
            <a:ext cx="7660630" cy="1117060"/>
            <a:chOff x="0" y="0"/>
            <a:chExt cx="10214173" cy="148941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14173" cy="1489414"/>
            </a:xfrm>
            <a:custGeom>
              <a:avLst/>
              <a:gdLst/>
              <a:ahLst/>
              <a:cxnLst/>
              <a:rect r="r" b="b" t="t" l="l"/>
              <a:pathLst>
                <a:path h="1489414" w="10214173">
                  <a:moveTo>
                    <a:pt x="0" y="0"/>
                  </a:moveTo>
                  <a:lnTo>
                    <a:pt x="10214173" y="0"/>
                  </a:lnTo>
                  <a:lnTo>
                    <a:pt x="10214173" y="1489414"/>
                  </a:lnTo>
                  <a:lnTo>
                    <a:pt x="0" y="14894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0214173" cy="151798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>
                  <a:solidFill>
                    <a:srgbClr val="1B1B27"/>
                  </a:solidFill>
                  <a:latin typeface="Raleway"/>
                  <a:ea typeface="Raleway"/>
                  <a:cs typeface="Raleway"/>
                  <a:sym typeface="Raleway"/>
                </a:rPr>
                <a:t>Conclusion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386590" y="5336679"/>
            <a:ext cx="3576935" cy="442912"/>
            <a:chOff x="0" y="0"/>
            <a:chExt cx="4769247" cy="5905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69247" cy="590550"/>
            </a:xfrm>
            <a:custGeom>
              <a:avLst/>
              <a:gdLst/>
              <a:ahLst/>
              <a:cxnLst/>
              <a:rect r="r" b="b" t="t" l="l"/>
              <a:pathLst>
                <a:path h="590550" w="4769247">
                  <a:moveTo>
                    <a:pt x="0" y="0"/>
                  </a:moveTo>
                  <a:lnTo>
                    <a:pt x="4769247" y="0"/>
                  </a:lnTo>
                  <a:lnTo>
                    <a:pt x="4769247" y="590550"/>
                  </a:lnTo>
                  <a:lnTo>
                    <a:pt x="0" y="5905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769247" cy="61912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437"/>
                </a:lnSpc>
              </a:pPr>
              <a:r>
                <a:rPr lang="en-US" sz="2750">
                  <a:solidFill>
                    <a:srgbClr val="3C3939"/>
                  </a:solidFill>
                  <a:latin typeface="Raleway"/>
                  <a:ea typeface="Raleway"/>
                  <a:cs typeface="Raleway"/>
                  <a:sym typeface="Raleway"/>
                </a:rPr>
                <a:t>Effective Optimization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86590" y="5949702"/>
            <a:ext cx="7527726" cy="453629"/>
            <a:chOff x="0" y="0"/>
            <a:chExt cx="10036968" cy="604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036968" cy="604838"/>
            </a:xfrm>
            <a:custGeom>
              <a:avLst/>
              <a:gdLst/>
              <a:ahLst/>
              <a:cxnLst/>
              <a:rect r="r" b="b" t="t" l="l"/>
              <a:pathLst>
                <a:path h="604838" w="10036968">
                  <a:moveTo>
                    <a:pt x="0" y="0"/>
                  </a:moveTo>
                  <a:lnTo>
                    <a:pt x="10036968" y="0"/>
                  </a:lnTo>
                  <a:lnTo>
                    <a:pt x="10036968" y="604838"/>
                  </a:lnTo>
                  <a:lnTo>
                    <a:pt x="0" y="60483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0"/>
              <a:ext cx="10036968" cy="700088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62"/>
                </a:lnSpc>
              </a:pPr>
              <a:r>
                <a:rPr lang="en-US" sz="2187">
                  <a:solidFill>
                    <a:srgbClr val="3C3939"/>
                  </a:solidFill>
                  <a:latin typeface="Roboto"/>
                  <a:ea typeface="Roboto"/>
                  <a:cs typeface="Roboto"/>
                  <a:sym typeface="Roboto"/>
                </a:rPr>
                <a:t>PSO effectively optimized Rosenbrock function and reduced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DAGiMixWVAI</dc:identifier>
  <dcterms:modified xsi:type="dcterms:W3CDTF">2011-08-01T06:04:30Z</dcterms:modified>
  <cp:revision>1</cp:revision>
  <dc:title>Particle-Swarm-Optimization-PSO.pptx</dc:title>
</cp:coreProperties>
</file>